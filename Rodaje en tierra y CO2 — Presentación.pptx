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20 segundos. Saludo y presentación del grupo. Una frase de gancho: antes de despegar y después de aterrizar, los aviones consumen combustible con los motores encendidos. Hoy mostramos dónde, a qué hora y cuánto CO2 es eso.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50 segundos. Rodaje es el tiempo que el avión se mueve en tierra con los motores encendidos: desde el puesto hasta el despegue (TaxiOut) y desde el aterrizaje hasta el puesto (TaxiIn). El usuario es el área de Sostenibilidad: necesita una cifra defendible para su reporte y una lista corta de dónde actuar. No predecimos atrasos: ese fue nuestro primer enfoque y lo cambiamos por este, que conecta mejor con una decisión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45 segundos. El volumen que exige el docente se cumple en la entrada: 9,47 GB de CSV, 36 archivos mensuales. Lo convertimos a Parquet, columnar y particionado por año y mes, que pesa 664 MB y conserva las 20.928.579 filas. Para el total excluimos 292.357 filas (1,4 %), casi todas por datos nulos; solo 54 salidas y 219 llegadas superan los 180 minutos. Si preguntan por los desviados: se conservan y su rodaje de llegada se atribuye al destino, porque el TaxiIn solo existe cuando el vuelo llegó a su destino; son 48.343 con ambos tiempos válidos, el 0,23 %.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60 segundos. Seguimos CRISP-DM en versión corta: negocio (reducir y reportar CO2), datos (BTS más clima), preparación (Parquet y regla de limpieza), análisis (DuckDB sobre el 100 % de las filas; Dask repite el cálculo), evaluación (23 comparaciones contra cifras ya medidas, todas cuadran) y despliegue (Prefect, AWS y Grafana). A AWS solo suben las tablas de resultados, nunca el conjunto original.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75 segundos. Prefect: el flujo es idempotente. Si llega un mes nuevo, se agrega a la lista y se vuelve a correr: lo ya procesado se omite y el CO2 se recalcula sobre todo el Parquet. Mostramos también un fallo controlado. Dask: misma agregación con dos configuraciones de workers y memoria. Con este volumen ganó A, con menos procesos y más hilos, porque coordinar procesos pequeños cuesta más. En B un worker llegó cerca de su límite de 1 GB. Una tercera configuración (4 × 2 GB) no se corrió por falta de memoria libre en el equipo. [Insertar aquí captura del dashboard de Dask y del historial de Prefect si se quiere mostrar en vivo.] Los tiempos son los del archivo benchmark_dask.csv, los mismos que cita el informe.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45 segundos. Aquí se muestra la captura del tablero de Grafana conectado a RDS. El KPI de 41,3 millones del tablero son tramos de rodaje válidos (salidas + llegadas), no vuelos únicos; el promedio de 13,17 min es por tramo. El script scripts/subir_resultados_aws.py carga las tablas; el tablero tiene un selector de escenario (bajo 6 kg/min, alto 12 kg/min por validar). Mensaje: el usuario de Sostenibilidad no ve SQL, ve cinco paneles que responden una pregunta cada uno.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60 segundos. Barras: CO2 de salida por aeropuerto. ORD, DFW, DEN y ATL lideran por volumen: ORD solo suma unas 392 mil toneladas. Derecha: los más lentos por minutos son JFK (27 min), EWR, LGA y ORD. ORD, LGA y JFK aparecen en las dos listas, así que son prioridad. Mensaje para Sostenibilidad: en unos aeropuertos hay que atacar volumen; en otros, minutos.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45 segundos. Las horas 6, 7 y 8 (naranja) son las de más CO2 de salida: unas 465, 504 y 516 mil toneladas. La tarde sube de nuevo hacia las 17 y 18, pero por debajo de la mañana. Anécdota de rigor: al principio nos salía un pico a las 9 y una hora 24 con casi 60.000 vuelos; era un error de redondeo al dividir HHMM entre 100. Lo encontramos, lo corregimos y lo documentamos en el cuaderno. La franja 6 a 8 es donde una salida más fluida ahorra más combustible.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60 segundos. Izquierda: las horas de rodaje crecieron 9 % mientras los vuelos válidos crecieron cerca de 2 %. No es solo que haya más vuelos: cada vuelo pasa más tiempo en tierra. Derecha: cada fenómeno climático por separado alarga el rodaje de salida: la nieve unos 6,7 minutos, la lluvia fuerte unos 3,8 y el viento fuerte unos 2,3. Cuidado con la interpretación: el clima es diario, no de la hora del vuelo, y solo cubre 20 aeropuertos; un día de nieve también desordena la pista. Sirve para decir que un reporte no debería promediar todos los días como iguales.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45 segundos. La cuenta es combustible = minutos de rodaje por kilos por minuto, y CO2 = combustible por 3,16. En el escenario bajo son 10,3 millones de toneladas; si el consumo real fuera el doble, 20,6 millones, pero ese valor aún está por validar contra la base de motores OACI/EASA. Bajar el rodaje un 10 % evitaría cerca de 1,03 millones de toneladas. El ranking de aeropuertos no cambia con el supuesto, porque todos se multiplican por el mismo número. Límite honesto: no sabemos el motor de cada vuelo, así que son estimaciones de escenario, no combustible ni CO2 medidos. Si preguntan por la segunda intervención (bajar los aeropuertos lentos hasta la mediana de 15,7 min): evitaría unas 1.007.869 t; si se exigen ambos tiempos válidos, baja 690 t (0,07 %). Las dos intervenciones no se suman.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Tiempo: 60 segundos. Cierre con las cuatro ideas y la propuesta de trabajo futuro: aplicar lo mismo a El Dorado con datos de la Aerocivil. Después, abrir a preguntas. Preguntas probables: por qué 6 kg/min (referencia de un A320; el escenario alto está por validar); por qué no subimos los datos originales a AWS (solo se sube la analítica, según el requisito); qué pasó con el modelo de atrasos (cambiamos de pregunta a una más útil para Sostenibilidad).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3EC"/>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96340"/>
            <a:ext cx="10566400" cy="408940"/>
          </a:xfrm>
          <a:prstGeom prst="rect">
            <a:avLst/>
          </a:prstGeom>
          <a:noFill/>
          <a:ln/>
        </p:spPr>
        <p:txBody>
          <a:bodyPr wrap="square" lIns="0" tIns="0" rIns="0" bIns="0" rtlCol="0" anchor="t"/>
          <a:lstStyle>
            <a:lvl1pPr algn="l" indent="0" marL="0">
              <a:lnSpc>
                <a:spcPct val="115000"/>
              </a:lnSpc>
              <a:buNone/>
              <a:defRPr lang="en-US" sz="2800" dirty="0">
                <a:solidFill>
                  <a:srgbClr val="14263A"/>
                </a:solidFill>
                <a:latin typeface="Libre Baskerville" pitchFamily="34" charset="0"/>
                <a:ea typeface="Libre Baskerville" pitchFamily="34" charset="-122"/>
                <a:cs typeface="Libre Baskerville" pitchFamily="34" charset="-120"/>
              </a:defRPr>
            </a:lvl1pPr>
          </a:lstStyle>
          <a:p>
            <a:pPr algn="l" indent="0" marL="0">
              <a:lnSpc>
                <a:spcPct val="115000"/>
              </a:lnSpc>
              <a:buNone/>
            </a:pPr>
            <a:endParaRPr lang="en-US" sz="2800" dirty="0"/>
          </a:p>
        </p:txBody>
      </p:sp>
      <p:sp>
        <p:nvSpPr>
          <p:cNvPr id="3" name="Text Placeholder 2"/>
          <p:cNvSpPr/>
          <p:nvPr>
            <p:ph idx="101" type="body"/>
          </p:nvPr>
        </p:nvSpPr>
        <p:spPr>
          <a:xfrm>
            <a:off x="812800" y="1910080"/>
            <a:ext cx="10566400" cy="4135120"/>
          </a:xfrm>
          <a:prstGeom prst="rect">
            <a:avLst/>
          </a:prstGeom>
          <a:noFill/>
          <a:ln/>
        </p:spPr>
        <p:txBody>
          <a:bodyPr wrap="square" lIns="0" tIns="0" rIns="0" bIns="0" rtlCol="0" anchor="t"/>
          <a:lstStyle>
            <a:lvl1pPr algn="l" indent="0" marL="0">
              <a:lnSpc>
                <a:spcPct val="140000"/>
              </a:lnSpc>
              <a:buNone/>
              <a:defRPr lang="en-US" sz="1600" dirty="0">
                <a:solidFill>
                  <a:srgbClr val="14263A"/>
                </a:solidFill>
                <a:latin typeface="Public Sans" pitchFamily="34" charset="0"/>
                <a:ea typeface="Public Sans" pitchFamily="34" charset="-122"/>
                <a:cs typeface="Public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3EC"/>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96340"/>
            <a:ext cx="10566400" cy="408940"/>
          </a:xfrm>
          <a:prstGeom prst="rect">
            <a:avLst/>
          </a:prstGeom>
          <a:noFill/>
          <a:ln/>
        </p:spPr>
        <p:txBody>
          <a:bodyPr wrap="square" lIns="0" tIns="0" rIns="0" bIns="0" rtlCol="0" anchor="t"/>
          <a:lstStyle>
            <a:lvl1pPr algn="l" indent="0" marL="0">
              <a:lnSpc>
                <a:spcPct val="115000"/>
              </a:lnSpc>
              <a:buNone/>
              <a:defRPr lang="en-US" sz="2800" dirty="0">
                <a:solidFill>
                  <a:srgbClr val="14263A"/>
                </a:solidFill>
                <a:latin typeface="Libre Baskerville" pitchFamily="34" charset="0"/>
                <a:ea typeface="Libre Baskerville" pitchFamily="34" charset="-122"/>
                <a:cs typeface="Libre Baskerville" pitchFamily="34" charset="-120"/>
              </a:defRPr>
            </a:lvl1pPr>
          </a:lstStyle>
          <a:p>
            <a:pPr algn="l" indent="0" marL="0">
              <a:lnSpc>
                <a:spcPct val="115000"/>
              </a:lnSpc>
              <a:buNone/>
            </a:pPr>
            <a:endParaRPr lang="en-US" sz="2800" dirty="0"/>
          </a:p>
        </p:txBody>
      </p:sp>
      <p:sp>
        <p:nvSpPr>
          <p:cNvPr id="3" name="Text Placeholder 2"/>
          <p:cNvSpPr/>
          <p:nvPr>
            <p:ph idx="101" type="body"/>
          </p:nvPr>
        </p:nvSpPr>
        <p:spPr>
          <a:xfrm>
            <a:off x="812800" y="1910080"/>
            <a:ext cx="10566400" cy="4135120"/>
          </a:xfrm>
          <a:prstGeom prst="rect">
            <a:avLst/>
          </a:prstGeom>
          <a:noFill/>
          <a:ln/>
        </p:spPr>
        <p:txBody>
          <a:bodyPr wrap="square" lIns="0" tIns="0" rIns="0" bIns="0" rtlCol="0" anchor="t"/>
          <a:lstStyle>
            <a:lvl1pPr algn="l" indent="0" marL="0">
              <a:lnSpc>
                <a:spcPct val="140000"/>
              </a:lnSpc>
              <a:buNone/>
              <a:defRPr lang="en-US" sz="1600" dirty="0">
                <a:solidFill>
                  <a:srgbClr val="14263A"/>
                </a:solidFill>
                <a:latin typeface="Public Sans" pitchFamily="34" charset="0"/>
                <a:ea typeface="Public Sans" pitchFamily="34" charset="-122"/>
                <a:cs typeface="Public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2.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63A"/>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F2A15B"/>
                </a:solidFill>
                <a:latin typeface="Public Sans" pitchFamily="34" charset="0"/>
                <a:ea typeface="Public Sans" pitchFamily="34" charset="-122"/>
                <a:cs typeface="Public Sans" pitchFamily="34" charset="-120"/>
              </a:rPr>
              <a:t>BIG DATA · MAESTRÍA EN ANALÍTICA APLICADA</a:t>
            </a:r>
            <a:endParaRPr lang="en-US" sz="1400" dirty="0"/>
          </a:p>
        </p:txBody>
      </p:sp>
      <p:sp>
        <p:nvSpPr>
          <p:cNvPr id="3" name="Text 1"/>
          <p:cNvSpPr/>
          <p:nvPr>
            <p:ph type="title"/>
          </p:nvPr>
        </p:nvSpPr>
        <p:spPr>
          <a:xfrm>
            <a:off x="812800" y="2204720"/>
            <a:ext cx="10883392" cy="1310640"/>
          </a:xfrm>
          <a:prstGeom prst="rect">
            <a:avLst/>
          </a:prstGeom>
          <a:noFill/>
          <a:ln/>
        </p:spPr>
        <p:txBody>
          <a:bodyPr wrap="square" lIns="0" tIns="0" rIns="0" bIns="0" rtlCol="0" anchor="t">
            <a:normAutofit/>
          </a:bodyPr>
          <a:lstStyle/>
          <a:p>
            <a:pPr algn="l" indent="0" marL="0">
              <a:lnSpc>
                <a:spcPts val="5060"/>
              </a:lnSpc>
              <a:buNone/>
            </a:pPr>
            <a:r>
              <a:rPr lang="en-US" sz="4600" b="1" i="0" dirty="0">
                <a:solidFill>
                  <a:srgbClr val="F5F3EC"/>
                </a:solidFill>
                <a:latin typeface="Libre Baskerville" pitchFamily="18" charset="0"/>
                <a:ea typeface="Libre Baskerville" pitchFamily="18" charset="-122"/>
                <a:cs typeface="Libre Baskerville" pitchFamily="18" charset="-120"/>
              </a:rPr>
              <a:t>¿Cuánto CO2 se pierde rodando en tierra?</a:t>
            </a:r>
            <a:endParaRPr lang="en-US" sz="4600" dirty="0"/>
          </a:p>
        </p:txBody>
      </p:sp>
      <p:sp>
        <p:nvSpPr>
          <p:cNvPr id="4" name="Text 2"/>
          <p:cNvSpPr/>
          <p:nvPr/>
        </p:nvSpPr>
        <p:spPr>
          <a:xfrm>
            <a:off x="812800" y="3718560"/>
            <a:ext cx="8829675" cy="711200"/>
          </a:xfrm>
          <a:prstGeom prst="rect">
            <a:avLst/>
          </a:prstGeom>
          <a:noFill/>
          <a:ln/>
        </p:spPr>
        <p:txBody>
          <a:bodyPr wrap="square" lIns="0" tIns="0" rIns="0" bIns="0" rtlCol="0" anchor="t">
            <a:normAutofit/>
          </a:bodyPr>
          <a:lstStyle/>
          <a:p>
            <a:pPr algn="l" indent="0" marL="0">
              <a:lnSpc>
                <a:spcPts val="2700"/>
              </a:lnSpc>
              <a:buNone/>
            </a:pPr>
            <a:r>
              <a:rPr lang="en-US" sz="2000" dirty="0">
                <a:solidFill>
                  <a:srgbClr val="C9D3DC"/>
                </a:solidFill>
                <a:latin typeface="Public Sans" pitchFamily="34" charset="0"/>
                <a:ea typeface="Public Sans" pitchFamily="34" charset="-122"/>
                <a:cs typeface="Public Sans" pitchFamily="34" charset="-120"/>
              </a:rPr>
              <a:t>Aeropuertos y horarios que más combustible desperdician en vuelos de Estados Unidos, 2023–2025</a:t>
            </a:r>
            <a:endParaRPr lang="en-US" sz="2000" dirty="0"/>
          </a:p>
        </p:txBody>
      </p:sp>
      <p:sp>
        <p:nvSpPr>
          <p:cNvPr id="5" name="Text 3"/>
          <p:cNvSpPr/>
          <p:nvPr/>
        </p:nvSpPr>
        <p:spPr>
          <a:xfrm>
            <a:off x="812800" y="5796280"/>
            <a:ext cx="588645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D3DC"/>
                </a:solidFill>
                <a:latin typeface="Public Sans" pitchFamily="34" charset="0"/>
                <a:ea typeface="Public Sans" pitchFamily="34" charset="-122"/>
                <a:cs typeface="Public Sans" pitchFamily="34" charset="-120"/>
              </a:rPr>
              <a:t>[Nombres de los integrantes]</a:t>
            </a:r>
            <a:endParaRPr lang="en-US" sz="1400" dirty="0"/>
          </a:p>
        </p:txBody>
      </p:sp>
      <p:sp>
        <p:nvSpPr>
          <p:cNvPr id="6" name="Text 4"/>
          <p:cNvSpPr/>
          <p:nvPr/>
        </p:nvSpPr>
        <p:spPr>
          <a:xfrm>
            <a:off x="6800850" y="5547360"/>
            <a:ext cx="4578350" cy="523240"/>
          </a:xfrm>
          <a:prstGeom prst="rect">
            <a:avLst/>
          </a:prstGeom>
          <a:noFill/>
          <a:ln/>
        </p:spPr>
        <p:txBody>
          <a:bodyPr wrap="square" lIns="0" tIns="0" rIns="0" bIns="0" rtlCol="0" anchor="t">
            <a:normAutofit/>
          </a:bodyPr>
          <a:lstStyle/>
          <a:p>
            <a:pPr algn="r" indent="0" marL="0">
              <a:lnSpc>
                <a:spcPts val="1960"/>
              </a:lnSpc>
              <a:buNone/>
            </a:pPr>
            <a:r>
              <a:rPr lang="en-US" sz="1400" dirty="0">
                <a:solidFill>
                  <a:srgbClr val="C9D3DC"/>
                </a:solidFill>
                <a:latin typeface="Public Sans" pitchFamily="34" charset="0"/>
                <a:ea typeface="Public Sans" pitchFamily="34" charset="-122"/>
                <a:cs typeface="Public Sans" pitchFamily="34" charset="-120"/>
              </a:rPr>
              <a:t>Universidad de La Sabana</a:t>
            </a:r>
            <a:endParaRPr lang="en-US" sz="1400" dirty="0"/>
          </a:p>
          <a:p>
            <a:pPr algn="r" indent="0" marL="0">
              <a:lnSpc>
                <a:spcPts val="1960"/>
              </a:lnSpc>
              <a:buNone/>
            </a:pPr>
            <a:r>
              <a:rPr lang="en-US" sz="1400" dirty="0">
                <a:solidFill>
                  <a:srgbClr val="C9D3DC"/>
                </a:solidFill>
                <a:latin typeface="Public Sans" pitchFamily="34" charset="0"/>
                <a:ea typeface="Public Sans" pitchFamily="34" charset="-122"/>
                <a:cs typeface="Public Sans" pitchFamily="34" charset="-120"/>
              </a:rPr>
              <a:t>10 de octubre de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B85A12"/>
                </a:solidFill>
                <a:latin typeface="Public Sans" pitchFamily="34" charset="0"/>
                <a:ea typeface="Public Sans" pitchFamily="34" charset="-122"/>
                <a:cs typeface="Public Sans" pitchFamily="34" charset="-120"/>
              </a:rPr>
              <a:t>LA PREGUNTA</a:t>
            </a:r>
            <a:endParaRPr lang="en-US" sz="1300" dirty="0"/>
          </a:p>
        </p:txBody>
      </p:sp>
      <p:sp>
        <p:nvSpPr>
          <p:cNvPr id="3" name="Text 1"/>
          <p:cNvSpPr/>
          <p:nvPr>
            <p:ph type="title"/>
          </p:nvPr>
        </p:nvSpPr>
        <p:spPr>
          <a:xfrm>
            <a:off x="812800" y="1196340"/>
            <a:ext cx="10883392" cy="1397000"/>
          </a:xfrm>
          <a:prstGeom prst="rect">
            <a:avLst/>
          </a:prstGeom>
          <a:noFill/>
          <a:ln/>
        </p:spPr>
        <p:txBody>
          <a:bodyPr wrap="square" lIns="0" tIns="0" rIns="0" bIns="0" rtlCol="0" anchor="t">
            <a:normAutofit/>
          </a:bodyPr>
          <a:lstStyle/>
          <a:p>
            <a:pPr algn="l" indent="0" marL="0">
              <a:lnSpc>
                <a:spcPts val="3600"/>
              </a:lnSpc>
              <a:buNone/>
            </a:pPr>
            <a:r>
              <a:rPr lang="en-US" sz="3000" b="1" i="0" dirty="0">
                <a:solidFill>
                  <a:srgbClr val="14263A"/>
                </a:solidFill>
                <a:latin typeface="Libre Baskerville" pitchFamily="18" charset="0"/>
                <a:ea typeface="Libre Baskerville" pitchFamily="18" charset="-122"/>
                <a:cs typeface="Libre Baskerville" pitchFamily="18" charset="-120"/>
              </a:rPr>
              <a:t>¿Qué aeropuertos y qué horarios desperdician más combustible rodando en tierra, y cuánto CO2 representa?</a:t>
            </a:r>
            <a:endParaRPr lang="en-US" sz="3000" dirty="0"/>
          </a:p>
        </p:txBody>
      </p:sp>
      <p:sp>
        <p:nvSpPr>
          <p:cNvPr id="4" name="Shape 2"/>
          <p:cNvSpPr/>
          <p:nvPr/>
        </p:nvSpPr>
        <p:spPr>
          <a:xfrm>
            <a:off x="815975" y="4150995"/>
            <a:ext cx="3380264" cy="1687830"/>
          </a:xfrm>
          <a:prstGeom prst="roundRect">
            <a:avLst>
              <a:gd name="adj" fmla="val 5831"/>
            </a:avLst>
          </a:prstGeom>
          <a:solidFill>
            <a:srgbClr val="FCFBF7"/>
          </a:solidFill>
          <a:ln w="6350">
            <a:solidFill>
              <a:srgbClr val="DDD8C8"/>
            </a:solidFill>
            <a:prstDash val="solid"/>
          </a:ln>
        </p:spPr>
      </p:sp>
      <p:sp>
        <p:nvSpPr>
          <p:cNvPr id="5" name="Text 3"/>
          <p:cNvSpPr/>
          <p:nvPr/>
        </p:nvSpPr>
        <p:spPr>
          <a:xfrm>
            <a:off x="1071880" y="4406900"/>
            <a:ext cx="2954507"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63A"/>
                </a:solidFill>
                <a:latin typeface="Public Sans" pitchFamily="34" charset="0"/>
                <a:ea typeface="Public Sans" pitchFamily="34" charset="-122"/>
                <a:cs typeface="Public Sans" pitchFamily="34" charset="-120"/>
              </a:rPr>
              <a:t>Usuario</a:t>
            </a:r>
            <a:endParaRPr lang="en-US" sz="1800" dirty="0"/>
          </a:p>
        </p:txBody>
      </p:sp>
      <p:sp>
        <p:nvSpPr>
          <p:cNvPr id="6" name="Text 4"/>
          <p:cNvSpPr/>
          <p:nvPr/>
        </p:nvSpPr>
        <p:spPr>
          <a:xfrm>
            <a:off x="1071880" y="4782820"/>
            <a:ext cx="2954507"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D4A57"/>
                </a:solidFill>
                <a:latin typeface="Public Sans" pitchFamily="34" charset="0"/>
                <a:ea typeface="Public Sans" pitchFamily="34" charset="-122"/>
                <a:cs typeface="Public Sans" pitchFamily="34" charset="-120"/>
              </a:rPr>
              <a:t>Área de Sostenibilidad de una aerolínea o de un aeropuerto.</a:t>
            </a:r>
            <a:endParaRPr lang="en-US" sz="1500" dirty="0"/>
          </a:p>
        </p:txBody>
      </p:sp>
      <p:sp>
        <p:nvSpPr>
          <p:cNvPr id="7" name="Shape 5"/>
          <p:cNvSpPr/>
          <p:nvPr/>
        </p:nvSpPr>
        <p:spPr>
          <a:xfrm>
            <a:off x="4405789" y="4150995"/>
            <a:ext cx="3380343" cy="1687830"/>
          </a:xfrm>
          <a:prstGeom prst="roundRect">
            <a:avLst>
              <a:gd name="adj" fmla="val 5831"/>
            </a:avLst>
          </a:prstGeom>
          <a:solidFill>
            <a:srgbClr val="FCFBF7"/>
          </a:solidFill>
          <a:ln w="6350">
            <a:solidFill>
              <a:srgbClr val="DDD8C8"/>
            </a:solidFill>
            <a:prstDash val="solid"/>
          </a:ln>
        </p:spPr>
      </p:sp>
      <p:sp>
        <p:nvSpPr>
          <p:cNvPr id="8" name="Text 6"/>
          <p:cNvSpPr/>
          <p:nvPr/>
        </p:nvSpPr>
        <p:spPr>
          <a:xfrm>
            <a:off x="4661694" y="4406900"/>
            <a:ext cx="2954589"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63A"/>
                </a:solidFill>
                <a:latin typeface="Public Sans" pitchFamily="34" charset="0"/>
                <a:ea typeface="Public Sans" pitchFamily="34" charset="-122"/>
                <a:cs typeface="Public Sans" pitchFamily="34" charset="-120"/>
              </a:rPr>
              <a:t>Decisión</a:t>
            </a:r>
            <a:endParaRPr lang="en-US" sz="1800" dirty="0"/>
          </a:p>
        </p:txBody>
      </p:sp>
      <p:sp>
        <p:nvSpPr>
          <p:cNvPr id="9" name="Text 7"/>
          <p:cNvSpPr/>
          <p:nvPr/>
        </p:nvSpPr>
        <p:spPr>
          <a:xfrm>
            <a:off x="4661694" y="4782820"/>
            <a:ext cx="2954589"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D4A57"/>
                </a:solidFill>
                <a:latin typeface="Public Sans" pitchFamily="34" charset="0"/>
                <a:ea typeface="Public Sans" pitchFamily="34" charset="-122"/>
                <a:cs typeface="Public Sans" pitchFamily="34" charset="-120"/>
              </a:rPr>
              <a:t>Dónde y a qué hora actuar, y qué cifra de CO2 reportar.</a:t>
            </a:r>
            <a:endParaRPr lang="en-US" sz="1500" dirty="0"/>
          </a:p>
        </p:txBody>
      </p:sp>
      <p:sp>
        <p:nvSpPr>
          <p:cNvPr id="10" name="Shape 8"/>
          <p:cNvSpPr/>
          <p:nvPr/>
        </p:nvSpPr>
        <p:spPr>
          <a:xfrm>
            <a:off x="7995682" y="4150995"/>
            <a:ext cx="3380343" cy="1687830"/>
          </a:xfrm>
          <a:prstGeom prst="roundRect">
            <a:avLst>
              <a:gd name="adj" fmla="val 5831"/>
            </a:avLst>
          </a:prstGeom>
          <a:solidFill>
            <a:srgbClr val="FCFBF7"/>
          </a:solidFill>
          <a:ln w="6350">
            <a:solidFill>
              <a:srgbClr val="DDD8C8"/>
            </a:solidFill>
            <a:prstDash val="solid"/>
          </a:ln>
        </p:spPr>
      </p:sp>
      <p:sp>
        <p:nvSpPr>
          <p:cNvPr id="11" name="Text 9"/>
          <p:cNvSpPr/>
          <p:nvPr/>
        </p:nvSpPr>
        <p:spPr>
          <a:xfrm>
            <a:off x="8251587" y="4406900"/>
            <a:ext cx="2954589"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63A"/>
                </a:solidFill>
                <a:latin typeface="Public Sans" pitchFamily="34" charset="0"/>
                <a:ea typeface="Public Sans" pitchFamily="34" charset="-122"/>
                <a:cs typeface="Public Sans" pitchFamily="34" charset="-120"/>
              </a:rPr>
              <a:t>Medida</a:t>
            </a:r>
            <a:endParaRPr lang="en-US" sz="1800" dirty="0"/>
          </a:p>
        </p:txBody>
      </p:sp>
      <p:sp>
        <p:nvSpPr>
          <p:cNvPr id="12" name="Text 10"/>
          <p:cNvSpPr/>
          <p:nvPr/>
        </p:nvSpPr>
        <p:spPr>
          <a:xfrm>
            <a:off x="8251587" y="4782820"/>
            <a:ext cx="2954589"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D4A57"/>
                </a:solidFill>
                <a:latin typeface="Public Sans" pitchFamily="34" charset="0"/>
                <a:ea typeface="Public Sans" pitchFamily="34" charset="-122"/>
                <a:cs typeface="Public Sans" pitchFamily="34" charset="-120"/>
              </a:rPr>
              <a:t>Minutos de rodaje en tierra: salida (TaxiOut) y llegada (TaxiIn).</a:t>
            </a:r>
            <a:endParaRPr lang="en-US" sz="1500" dirty="0"/>
          </a:p>
        </p:txBody>
      </p:sp>
      <p:sp>
        <p:nvSpPr>
          <p:cNvPr id="13" name="Text 11"/>
          <p:cNvSpPr/>
          <p:nvPr/>
        </p:nvSpPr>
        <p:spPr>
          <a:xfrm>
            <a:off x="812800" y="6238241"/>
            <a:ext cx="85026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6"/>
                </a:solidFill>
                <a:latin typeface="Public Sans" pitchFamily="34" charset="0"/>
                <a:ea typeface="Public Sans" pitchFamily="34" charset="-122"/>
                <a:cs typeface="Public Sans" pitchFamily="34" charset="-120"/>
              </a:rPr>
              <a:t>Rodaje en tierra y CO2 · BTS 2023–2025</a:t>
            </a:r>
            <a:endParaRPr lang="en-US" sz="1200" dirty="0"/>
          </a:p>
        </p:txBody>
      </p:sp>
      <p:sp>
        <p:nvSpPr>
          <p:cNvPr id="14" name="Text 12"/>
          <p:cNvSpPr/>
          <p:nvPr/>
        </p:nvSpPr>
        <p:spPr>
          <a:xfrm>
            <a:off x="10566400" y="6238241"/>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B76"/>
                </a:solidFill>
                <a:latin typeface="Public Sans" pitchFamily="34" charset="0"/>
                <a:ea typeface="Public Sans" pitchFamily="34" charset="-122"/>
                <a:cs typeface="Public Sans" pitchFamily="34"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4263A"/>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F2A15B"/>
                </a:solidFill>
                <a:latin typeface="Public Sans" pitchFamily="34" charset="0"/>
                <a:ea typeface="Public Sans" pitchFamily="34" charset="-122"/>
                <a:cs typeface="Public Sans" pitchFamily="34" charset="-120"/>
              </a:rPr>
              <a:t>LOS DATOS</a:t>
            </a:r>
            <a:endParaRPr lang="en-US" sz="1300" dirty="0"/>
          </a:p>
        </p:txBody>
      </p:sp>
      <p:sp>
        <p:nvSpPr>
          <p:cNvPr id="3" name="Text 1"/>
          <p:cNvSpPr/>
          <p:nvPr>
            <p:ph type="title"/>
          </p:nvPr>
        </p:nvSpPr>
        <p:spPr>
          <a:xfrm>
            <a:off x="812800" y="1196341"/>
            <a:ext cx="10883392" cy="43434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F5F3EC"/>
                </a:solidFill>
                <a:latin typeface="Libre Baskerville" pitchFamily="18" charset="0"/>
                <a:ea typeface="Libre Baskerville" pitchFamily="18" charset="-122"/>
                <a:cs typeface="Libre Baskerville" pitchFamily="18" charset="-120"/>
              </a:rPr>
              <a:t>BTS On-Time Performance, 36 meses</a:t>
            </a:r>
            <a:endParaRPr lang="en-US" sz="2800" dirty="0"/>
          </a:p>
        </p:txBody>
      </p:sp>
      <p:sp>
        <p:nvSpPr>
          <p:cNvPr id="4" name="Shape 2"/>
          <p:cNvSpPr/>
          <p:nvPr/>
        </p:nvSpPr>
        <p:spPr>
          <a:xfrm>
            <a:off x="812800" y="2693036"/>
            <a:ext cx="3318907" cy="0"/>
          </a:xfrm>
          <a:prstGeom prst="line">
            <a:avLst/>
          </a:prstGeom>
          <a:noFill/>
          <a:ln w="12700">
            <a:solidFill>
              <a:srgbClr val="F2A15B"/>
            </a:solidFill>
            <a:prstDash val="solid"/>
          </a:ln>
        </p:spPr>
      </p:sp>
      <p:sp>
        <p:nvSpPr>
          <p:cNvPr id="5" name="Text 3"/>
          <p:cNvSpPr/>
          <p:nvPr/>
        </p:nvSpPr>
        <p:spPr>
          <a:xfrm>
            <a:off x="812800" y="2849245"/>
            <a:ext cx="3418474" cy="793750"/>
          </a:xfrm>
          <a:prstGeom prst="rect">
            <a:avLst/>
          </a:prstGeom>
          <a:noFill/>
          <a:ln/>
        </p:spPr>
        <p:txBody>
          <a:bodyPr wrap="square" lIns="0" tIns="0" rIns="0" bIns="0" rtlCol="0" anchor="t">
            <a:normAutofit/>
          </a:bodyPr>
          <a:lstStyle/>
          <a:p>
            <a:pPr algn="l" indent="0" marL="0">
              <a:lnSpc>
                <a:spcPts val="6050"/>
              </a:lnSpc>
              <a:buNone/>
            </a:pPr>
            <a:r>
              <a:rPr lang="en-US" sz="5500" b="1" dirty="0">
                <a:solidFill>
                  <a:srgbClr val="F5F3EC"/>
                </a:solidFill>
                <a:latin typeface="Libre Baskerville" pitchFamily="18" charset="0"/>
                <a:ea typeface="Libre Baskerville" pitchFamily="18" charset="-122"/>
                <a:cs typeface="Libre Baskerville" pitchFamily="18" charset="-120"/>
              </a:rPr>
              <a:t>9,47 GB</a:t>
            </a:r>
            <a:endParaRPr lang="en-US" sz="5500" dirty="0"/>
          </a:p>
        </p:txBody>
      </p:sp>
      <p:sp>
        <p:nvSpPr>
          <p:cNvPr id="6" name="Text 4"/>
          <p:cNvSpPr/>
          <p:nvPr/>
        </p:nvSpPr>
        <p:spPr>
          <a:xfrm>
            <a:off x="812800" y="3693795"/>
            <a:ext cx="3418474"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C9D3DC"/>
                </a:solidFill>
                <a:latin typeface="Public Sans" pitchFamily="34" charset="0"/>
                <a:ea typeface="Public Sans" pitchFamily="34" charset="-122"/>
                <a:cs typeface="Public Sans" pitchFamily="34" charset="-120"/>
              </a:rPr>
              <a:t>de CSV al descomprimir 36 ZIP (1,05 GB comprimidos). Cumple el requisito de más de 1,5 GB.</a:t>
            </a:r>
            <a:endParaRPr lang="en-US" sz="1500" dirty="0"/>
          </a:p>
        </p:txBody>
      </p:sp>
      <p:sp>
        <p:nvSpPr>
          <p:cNvPr id="7" name="Shape 5"/>
          <p:cNvSpPr/>
          <p:nvPr/>
        </p:nvSpPr>
        <p:spPr>
          <a:xfrm>
            <a:off x="4436507" y="2693036"/>
            <a:ext cx="3318986" cy="0"/>
          </a:xfrm>
          <a:prstGeom prst="line">
            <a:avLst/>
          </a:prstGeom>
          <a:noFill/>
          <a:ln w="12700">
            <a:solidFill>
              <a:srgbClr val="F2A15B"/>
            </a:solidFill>
            <a:prstDash val="solid"/>
          </a:ln>
        </p:spPr>
      </p:sp>
      <p:sp>
        <p:nvSpPr>
          <p:cNvPr id="8" name="Text 6"/>
          <p:cNvSpPr/>
          <p:nvPr/>
        </p:nvSpPr>
        <p:spPr>
          <a:xfrm>
            <a:off x="4436507" y="2849245"/>
            <a:ext cx="3418556" cy="793750"/>
          </a:xfrm>
          <a:prstGeom prst="rect">
            <a:avLst/>
          </a:prstGeom>
          <a:noFill/>
          <a:ln/>
        </p:spPr>
        <p:txBody>
          <a:bodyPr wrap="square" lIns="0" tIns="0" rIns="0" bIns="0" rtlCol="0" anchor="t">
            <a:normAutofit/>
          </a:bodyPr>
          <a:lstStyle/>
          <a:p>
            <a:pPr algn="l" indent="0" marL="0">
              <a:lnSpc>
                <a:spcPts val="6050"/>
              </a:lnSpc>
              <a:buNone/>
            </a:pPr>
            <a:r>
              <a:rPr lang="en-US" sz="5500" b="1" dirty="0">
                <a:solidFill>
                  <a:srgbClr val="F5F3EC"/>
                </a:solidFill>
                <a:latin typeface="Libre Baskerville" pitchFamily="18" charset="0"/>
                <a:ea typeface="Libre Baskerville" pitchFamily="18" charset="-122"/>
                <a:cs typeface="Libre Baskerville" pitchFamily="18" charset="-120"/>
              </a:rPr>
              <a:t>20,9 M</a:t>
            </a:r>
            <a:endParaRPr lang="en-US" sz="5500" dirty="0"/>
          </a:p>
        </p:txBody>
      </p:sp>
      <p:sp>
        <p:nvSpPr>
          <p:cNvPr id="9" name="Text 7"/>
          <p:cNvSpPr/>
          <p:nvPr/>
        </p:nvSpPr>
        <p:spPr>
          <a:xfrm>
            <a:off x="4436507" y="3693795"/>
            <a:ext cx="3418556"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C9D3DC"/>
                </a:solidFill>
                <a:latin typeface="Public Sans" pitchFamily="34" charset="0"/>
                <a:ea typeface="Public Sans" pitchFamily="34" charset="-122"/>
                <a:cs typeface="Public Sans" pitchFamily="34" charset="-120"/>
              </a:rPr>
              <a:t>de vuelos (20.928.579 filas). Parquet de 664 MB sin perder ninguna fila.</a:t>
            </a:r>
            <a:endParaRPr lang="en-US" sz="1500" dirty="0"/>
          </a:p>
        </p:txBody>
      </p:sp>
      <p:sp>
        <p:nvSpPr>
          <p:cNvPr id="10" name="Shape 8"/>
          <p:cNvSpPr/>
          <p:nvPr/>
        </p:nvSpPr>
        <p:spPr>
          <a:xfrm>
            <a:off x="8060293" y="2693036"/>
            <a:ext cx="3318907" cy="0"/>
          </a:xfrm>
          <a:prstGeom prst="line">
            <a:avLst/>
          </a:prstGeom>
          <a:noFill/>
          <a:ln w="12700">
            <a:solidFill>
              <a:srgbClr val="F2A15B"/>
            </a:solidFill>
            <a:prstDash val="solid"/>
          </a:ln>
        </p:spPr>
      </p:sp>
      <p:sp>
        <p:nvSpPr>
          <p:cNvPr id="11" name="Text 9"/>
          <p:cNvSpPr/>
          <p:nvPr/>
        </p:nvSpPr>
        <p:spPr>
          <a:xfrm>
            <a:off x="8060293" y="2849245"/>
            <a:ext cx="3418474" cy="793750"/>
          </a:xfrm>
          <a:prstGeom prst="rect">
            <a:avLst/>
          </a:prstGeom>
          <a:noFill/>
          <a:ln/>
        </p:spPr>
        <p:txBody>
          <a:bodyPr wrap="square" lIns="0" tIns="0" rIns="0" bIns="0" rtlCol="0" anchor="t">
            <a:normAutofit/>
          </a:bodyPr>
          <a:lstStyle/>
          <a:p>
            <a:pPr algn="l" indent="0" marL="0">
              <a:lnSpc>
                <a:spcPts val="6050"/>
              </a:lnSpc>
              <a:buNone/>
            </a:pPr>
            <a:r>
              <a:rPr lang="en-US" sz="5500" b="1" dirty="0">
                <a:solidFill>
                  <a:srgbClr val="F5F3EC"/>
                </a:solidFill>
                <a:latin typeface="Libre Baskerville" pitchFamily="18" charset="0"/>
                <a:ea typeface="Libre Baskerville" pitchFamily="18" charset="-122"/>
                <a:cs typeface="Libre Baskerville" pitchFamily="18" charset="-120"/>
              </a:rPr>
              <a:t>36</a:t>
            </a:r>
            <a:endParaRPr lang="en-US" sz="5500" dirty="0"/>
          </a:p>
        </p:txBody>
      </p:sp>
      <p:sp>
        <p:nvSpPr>
          <p:cNvPr id="12" name="Text 10"/>
          <p:cNvSpPr/>
          <p:nvPr/>
        </p:nvSpPr>
        <p:spPr>
          <a:xfrm>
            <a:off x="8060293" y="3693795"/>
            <a:ext cx="3418474"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C9D3DC"/>
                </a:solidFill>
                <a:latin typeface="Public Sans" pitchFamily="34" charset="0"/>
                <a:ea typeface="Public Sans" pitchFamily="34" charset="-122"/>
                <a:cs typeface="Public Sans" pitchFamily="34" charset="-120"/>
              </a:rPr>
              <a:t>meses, de enero de 2023 a diciembre de 2025, más clima diario de 20 aeropuertos (Open-Meteo).</a:t>
            </a:r>
            <a:endParaRPr lang="en-US" sz="1500" dirty="0"/>
          </a:p>
        </p:txBody>
      </p:sp>
      <p:sp>
        <p:nvSpPr>
          <p:cNvPr id="13" name="Text 11"/>
          <p:cNvSpPr/>
          <p:nvPr/>
        </p:nvSpPr>
        <p:spPr>
          <a:xfrm>
            <a:off x="812800" y="557530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5F3EC"/>
                </a:solidFill>
                <a:latin typeface="Public Sans" pitchFamily="34" charset="0"/>
                <a:ea typeface="Public Sans" pitchFamily="34" charset="-122"/>
                <a:cs typeface="Public Sans" pitchFamily="34" charset="-120"/>
              </a:rPr>
              <a:t>Para el cálculo entran los vuelos con ambos tiempos de rodaje válidos (hasta 180 min): </a:t>
            </a:r>
            <a:r>
              <a:rPr lang="en-US" sz="1500" b="1" dirty="0">
                <a:solidFill>
                  <a:srgbClr val="F5F3EC"/>
                </a:solidFill>
                <a:latin typeface="Public Sans" pitchFamily="34" charset="0"/>
                <a:ea typeface="Public Sans" pitchFamily="34" charset="-122"/>
                <a:cs typeface="Public Sans" pitchFamily="34" charset="-120"/>
              </a:rPr>
              <a:t>20.636.222</a:t>
            </a:r>
            <a:r>
              <a:rPr lang="en-US" sz="1500" dirty="0">
                <a:solidFill>
                  <a:srgbClr val="F5F3EC"/>
                </a:solidFill>
                <a:latin typeface="Public Sans" pitchFamily="34" charset="0"/>
                <a:ea typeface="Public Sans" pitchFamily="34" charset="-122"/>
                <a:cs typeface="Public Sans" pitchFamily="34" charset="-120"/>
              </a:rPr>
              <a:t>, el 98,6 %.</a:t>
            </a:r>
            <a:endParaRPr lang="en-US" sz="1500" dirty="0"/>
          </a:p>
        </p:txBody>
      </p:sp>
      <p:sp>
        <p:nvSpPr>
          <p:cNvPr id="14" name="Text 12"/>
          <p:cNvSpPr/>
          <p:nvPr/>
        </p:nvSpPr>
        <p:spPr>
          <a:xfrm>
            <a:off x="812800" y="6238241"/>
            <a:ext cx="85026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FB0C0"/>
                </a:solidFill>
                <a:latin typeface="Public Sans" pitchFamily="34" charset="0"/>
                <a:ea typeface="Public Sans" pitchFamily="34" charset="-122"/>
                <a:cs typeface="Public Sans" pitchFamily="34" charset="-120"/>
              </a:rPr>
              <a:t>Fuente: Bureau of Transportation Statistics; Open-Meteo</a:t>
            </a:r>
            <a:endParaRPr lang="en-US" sz="1200" dirty="0"/>
          </a:p>
        </p:txBody>
      </p:sp>
      <p:sp>
        <p:nvSpPr>
          <p:cNvPr id="15" name="Text 13"/>
          <p:cNvSpPr/>
          <p:nvPr/>
        </p:nvSpPr>
        <p:spPr>
          <a:xfrm>
            <a:off x="10566400" y="6238241"/>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FB0C0"/>
                </a:solidFill>
                <a:latin typeface="Public Sans" pitchFamily="34" charset="0"/>
                <a:ea typeface="Public Sans" pitchFamily="34" charset="-122"/>
                <a:cs typeface="Public Sans" pitchFamily="34"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B85A12"/>
                </a:solidFill>
                <a:latin typeface="Public Sans" pitchFamily="34" charset="0"/>
                <a:ea typeface="Public Sans" pitchFamily="34" charset="-122"/>
                <a:cs typeface="Public Sans" pitchFamily="34" charset="-120"/>
              </a:rPr>
              <a:t>MÉTODO</a:t>
            </a:r>
            <a:endParaRPr lang="en-US" sz="1300" dirty="0"/>
          </a:p>
        </p:txBody>
      </p:sp>
      <p:sp>
        <p:nvSpPr>
          <p:cNvPr id="3" name="Text 1"/>
          <p:cNvSpPr/>
          <p:nvPr>
            <p:ph type="title"/>
          </p:nvPr>
        </p:nvSpPr>
        <p:spPr>
          <a:xfrm>
            <a:off x="812800" y="1196341"/>
            <a:ext cx="10883392" cy="43434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4263A"/>
                </a:solidFill>
                <a:latin typeface="Libre Baskerville" pitchFamily="18" charset="0"/>
                <a:ea typeface="Libre Baskerville" pitchFamily="18" charset="-122"/>
                <a:cs typeface="Libre Baskerville" pitchFamily="18" charset="-120"/>
              </a:rPr>
              <a:t>Del dato al tablero, con CRISP-DM</a:t>
            </a:r>
            <a:endParaRPr lang="en-US" sz="2800" dirty="0"/>
          </a:p>
        </p:txBody>
      </p:sp>
      <p:sp>
        <p:nvSpPr>
          <p:cNvPr id="4" name="Shape 2"/>
          <p:cNvSpPr/>
          <p:nvPr/>
        </p:nvSpPr>
        <p:spPr>
          <a:xfrm>
            <a:off x="815975" y="2356565"/>
            <a:ext cx="1659890" cy="1176020"/>
          </a:xfrm>
          <a:prstGeom prst="roundRect">
            <a:avLst>
              <a:gd name="adj" fmla="val 8369"/>
            </a:avLst>
          </a:prstGeom>
          <a:solidFill>
            <a:srgbClr val="FCFBF7"/>
          </a:solidFill>
          <a:ln w="6350">
            <a:solidFill>
              <a:srgbClr val="DDD8C8"/>
            </a:solidFill>
            <a:prstDash val="solid"/>
          </a:ln>
        </p:spPr>
      </p:sp>
      <p:sp>
        <p:nvSpPr>
          <p:cNvPr id="5" name="Text 3"/>
          <p:cNvSpPr/>
          <p:nvPr/>
        </p:nvSpPr>
        <p:spPr>
          <a:xfrm>
            <a:off x="970280" y="2561670"/>
            <a:ext cx="1402080"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63A"/>
                </a:solidFill>
                <a:latin typeface="Public Sans" pitchFamily="34" charset="0"/>
                <a:ea typeface="Public Sans" pitchFamily="34" charset="-122"/>
                <a:cs typeface="Public Sans" pitchFamily="34" charset="-120"/>
              </a:rPr>
              <a:t>BTS</a:t>
            </a:r>
            <a:endParaRPr lang="en-US" sz="1600" dirty="0"/>
          </a:p>
        </p:txBody>
      </p:sp>
      <p:sp>
        <p:nvSpPr>
          <p:cNvPr id="6" name="Text 4"/>
          <p:cNvSpPr/>
          <p:nvPr/>
        </p:nvSpPr>
        <p:spPr>
          <a:xfrm>
            <a:off x="970280" y="2881709"/>
            <a:ext cx="1402080"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D4A57"/>
                </a:solidFill>
                <a:latin typeface="Public Sans" pitchFamily="34" charset="0"/>
                <a:ea typeface="Public Sans" pitchFamily="34" charset="-122"/>
                <a:cs typeface="Public Sans" pitchFamily="34" charset="-120"/>
              </a:rPr>
              <a:t>36 ZIP mensuales</a:t>
            </a:r>
            <a:endParaRPr lang="en-US" sz="1300" dirty="0"/>
          </a:p>
        </p:txBody>
      </p:sp>
      <p:pic>
        <p:nvPicPr>
          <p:cNvPr id="7" name="Image 0" descr="arrow-right">    </p:cNvPr>
          <p:cNvPicPr>
            <a:picLocks noChangeAspect="1"/>
          </p:cNvPicPr>
          <p:nvPr/>
        </p:nvPicPr>
        <p:blipFill>
          <a:blip r:embed="rId1"/>
          <a:srcRect l="0" r="0" t="0" b="0"/>
          <a:stretch/>
        </p:blipFill>
        <p:spPr>
          <a:xfrm>
            <a:off x="2580640" y="2842975"/>
            <a:ext cx="355600" cy="203200"/>
          </a:xfrm>
          <a:prstGeom prst="rect">
            <a:avLst/>
          </a:prstGeom>
        </p:spPr>
      </p:pic>
      <p:sp>
        <p:nvSpPr>
          <p:cNvPr id="8" name="Shape 5"/>
          <p:cNvSpPr/>
          <p:nvPr/>
        </p:nvSpPr>
        <p:spPr>
          <a:xfrm>
            <a:off x="3041015" y="2468007"/>
            <a:ext cx="1659890" cy="953135"/>
          </a:xfrm>
          <a:prstGeom prst="roundRect">
            <a:avLst>
              <a:gd name="adj" fmla="val 10326"/>
            </a:avLst>
          </a:prstGeom>
          <a:solidFill>
            <a:srgbClr val="FCFBF7"/>
          </a:solidFill>
          <a:ln w="6350">
            <a:solidFill>
              <a:srgbClr val="DDD8C8"/>
            </a:solidFill>
            <a:prstDash val="solid"/>
          </a:ln>
        </p:spPr>
      </p:sp>
      <p:sp>
        <p:nvSpPr>
          <p:cNvPr id="9" name="Text 6"/>
          <p:cNvSpPr/>
          <p:nvPr/>
        </p:nvSpPr>
        <p:spPr>
          <a:xfrm>
            <a:off x="3195320" y="2673113"/>
            <a:ext cx="1402080"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63A"/>
                </a:solidFill>
                <a:latin typeface="Public Sans" pitchFamily="34" charset="0"/>
                <a:ea typeface="Public Sans" pitchFamily="34" charset="-122"/>
                <a:cs typeface="Public Sans" pitchFamily="34" charset="-120"/>
              </a:rPr>
              <a:t>Parquet</a:t>
            </a:r>
            <a:endParaRPr lang="en-US" sz="1600" dirty="0"/>
          </a:p>
        </p:txBody>
      </p:sp>
      <p:sp>
        <p:nvSpPr>
          <p:cNvPr id="10" name="Text 7"/>
          <p:cNvSpPr/>
          <p:nvPr/>
        </p:nvSpPr>
        <p:spPr>
          <a:xfrm>
            <a:off x="3195320" y="2993152"/>
            <a:ext cx="1402080" cy="24828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D4A57"/>
                </a:solidFill>
                <a:latin typeface="Public Sans" pitchFamily="34" charset="0"/>
                <a:ea typeface="Public Sans" pitchFamily="34" charset="-122"/>
                <a:cs typeface="Public Sans" pitchFamily="34" charset="-120"/>
              </a:rPr>
              <a:t>por año y mes</a:t>
            </a:r>
            <a:endParaRPr lang="en-US" sz="1300" dirty="0"/>
          </a:p>
        </p:txBody>
      </p:sp>
      <p:pic>
        <p:nvPicPr>
          <p:cNvPr id="11" name="Image 1" descr="arrow-right">    </p:cNvPr>
          <p:cNvPicPr>
            <a:picLocks noChangeAspect="1"/>
          </p:cNvPicPr>
          <p:nvPr/>
        </p:nvPicPr>
        <p:blipFill>
          <a:blip r:embed="rId2"/>
          <a:srcRect l="0" r="0" t="0" b="0"/>
          <a:stretch/>
        </p:blipFill>
        <p:spPr>
          <a:xfrm>
            <a:off x="4805680" y="2842975"/>
            <a:ext cx="355600" cy="203200"/>
          </a:xfrm>
          <a:prstGeom prst="rect">
            <a:avLst/>
          </a:prstGeom>
        </p:spPr>
      </p:pic>
      <p:sp>
        <p:nvSpPr>
          <p:cNvPr id="12" name="Shape 8"/>
          <p:cNvSpPr/>
          <p:nvPr/>
        </p:nvSpPr>
        <p:spPr>
          <a:xfrm>
            <a:off x="5266055" y="2346088"/>
            <a:ext cx="1659890" cy="1196975"/>
          </a:xfrm>
          <a:prstGeom prst="roundRect">
            <a:avLst>
              <a:gd name="adj" fmla="val 8223"/>
            </a:avLst>
          </a:prstGeom>
          <a:solidFill>
            <a:srgbClr val="FCFBF7"/>
          </a:solidFill>
          <a:ln w="6350">
            <a:solidFill>
              <a:srgbClr val="DDD8C8"/>
            </a:solidFill>
            <a:prstDash val="solid"/>
          </a:ln>
        </p:spPr>
      </p:sp>
      <p:sp>
        <p:nvSpPr>
          <p:cNvPr id="13" name="Text 9"/>
          <p:cNvSpPr/>
          <p:nvPr/>
        </p:nvSpPr>
        <p:spPr>
          <a:xfrm>
            <a:off x="5420360" y="2551192"/>
            <a:ext cx="1402080" cy="5130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63A"/>
                </a:solidFill>
                <a:latin typeface="Public Sans" pitchFamily="34" charset="0"/>
                <a:ea typeface="Public Sans" pitchFamily="34" charset="-122"/>
                <a:cs typeface="Public Sans" pitchFamily="34" charset="-120"/>
              </a:rPr>
              <a:t>DuckDB y Dask</a:t>
            </a:r>
            <a:endParaRPr lang="en-US" sz="1600" dirty="0"/>
          </a:p>
        </p:txBody>
      </p:sp>
      <p:sp>
        <p:nvSpPr>
          <p:cNvPr id="14" name="Text 10"/>
          <p:cNvSpPr/>
          <p:nvPr/>
        </p:nvSpPr>
        <p:spPr>
          <a:xfrm>
            <a:off x="5420360" y="3115072"/>
            <a:ext cx="1402080" cy="24828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D4A57"/>
                </a:solidFill>
                <a:latin typeface="Public Sans" pitchFamily="34" charset="0"/>
                <a:ea typeface="Public Sans" pitchFamily="34" charset="-122"/>
                <a:cs typeface="Public Sans" pitchFamily="34" charset="-120"/>
              </a:rPr>
              <a:t>cálculo de CO2</a:t>
            </a:r>
            <a:endParaRPr lang="en-US" sz="1300" dirty="0"/>
          </a:p>
        </p:txBody>
      </p:sp>
      <p:pic>
        <p:nvPicPr>
          <p:cNvPr id="15" name="Image 2" descr="arrow-right">    </p:cNvPr>
          <p:cNvPicPr>
            <a:picLocks noChangeAspect="1"/>
          </p:cNvPicPr>
          <p:nvPr/>
        </p:nvPicPr>
        <p:blipFill>
          <a:blip r:embed="rId3"/>
          <a:srcRect l="0" r="0" t="0" b="0"/>
          <a:stretch/>
        </p:blipFill>
        <p:spPr>
          <a:xfrm>
            <a:off x="7030720" y="2842975"/>
            <a:ext cx="355600" cy="203200"/>
          </a:xfrm>
          <a:prstGeom prst="rect">
            <a:avLst/>
          </a:prstGeom>
        </p:spPr>
      </p:pic>
      <p:sp>
        <p:nvSpPr>
          <p:cNvPr id="16" name="Shape 11"/>
          <p:cNvSpPr/>
          <p:nvPr/>
        </p:nvSpPr>
        <p:spPr>
          <a:xfrm>
            <a:off x="7491095" y="2468007"/>
            <a:ext cx="1659890" cy="953135"/>
          </a:xfrm>
          <a:prstGeom prst="roundRect">
            <a:avLst>
              <a:gd name="adj" fmla="val 10326"/>
            </a:avLst>
          </a:prstGeom>
          <a:solidFill>
            <a:srgbClr val="FCFBF7"/>
          </a:solidFill>
          <a:ln w="6350">
            <a:solidFill>
              <a:srgbClr val="DDD8C8"/>
            </a:solidFill>
            <a:prstDash val="solid"/>
          </a:ln>
        </p:spPr>
      </p:sp>
      <p:sp>
        <p:nvSpPr>
          <p:cNvPr id="17" name="Text 12"/>
          <p:cNvSpPr/>
          <p:nvPr/>
        </p:nvSpPr>
        <p:spPr>
          <a:xfrm>
            <a:off x="7645400" y="2673113"/>
            <a:ext cx="1402080"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63A"/>
                </a:solidFill>
                <a:latin typeface="Public Sans" pitchFamily="34" charset="0"/>
                <a:ea typeface="Public Sans" pitchFamily="34" charset="-122"/>
                <a:cs typeface="Public Sans" pitchFamily="34" charset="-120"/>
              </a:rPr>
              <a:t>AWS RDS</a:t>
            </a:r>
            <a:endParaRPr lang="en-US" sz="1600" dirty="0"/>
          </a:p>
        </p:txBody>
      </p:sp>
      <p:sp>
        <p:nvSpPr>
          <p:cNvPr id="18" name="Text 13"/>
          <p:cNvSpPr/>
          <p:nvPr/>
        </p:nvSpPr>
        <p:spPr>
          <a:xfrm>
            <a:off x="7645400" y="2993152"/>
            <a:ext cx="1402080" cy="24828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D4A57"/>
                </a:solidFill>
                <a:latin typeface="Public Sans" pitchFamily="34" charset="0"/>
                <a:ea typeface="Public Sans" pitchFamily="34" charset="-122"/>
                <a:cs typeface="Public Sans" pitchFamily="34" charset="-120"/>
              </a:rPr>
              <a:t>solo resultados</a:t>
            </a:r>
            <a:endParaRPr lang="en-US" sz="1300" dirty="0"/>
          </a:p>
        </p:txBody>
      </p:sp>
      <p:pic>
        <p:nvPicPr>
          <p:cNvPr id="19" name="Image 3" descr="arrow-right">    </p:cNvPr>
          <p:cNvPicPr>
            <a:picLocks noChangeAspect="1"/>
          </p:cNvPicPr>
          <p:nvPr/>
        </p:nvPicPr>
        <p:blipFill>
          <a:blip r:embed="rId4"/>
          <a:srcRect l="0" r="0" t="0" b="0"/>
          <a:stretch/>
        </p:blipFill>
        <p:spPr>
          <a:xfrm>
            <a:off x="9255760" y="2842975"/>
            <a:ext cx="355600" cy="203200"/>
          </a:xfrm>
          <a:prstGeom prst="rect">
            <a:avLst/>
          </a:prstGeom>
        </p:spPr>
      </p:pic>
      <p:sp>
        <p:nvSpPr>
          <p:cNvPr id="20" name="Shape 14"/>
          <p:cNvSpPr/>
          <p:nvPr/>
        </p:nvSpPr>
        <p:spPr>
          <a:xfrm>
            <a:off x="9716135" y="2468007"/>
            <a:ext cx="1659890" cy="953135"/>
          </a:xfrm>
          <a:prstGeom prst="roundRect">
            <a:avLst>
              <a:gd name="adj" fmla="val 10326"/>
            </a:avLst>
          </a:prstGeom>
          <a:solidFill>
            <a:srgbClr val="FCFBF7"/>
          </a:solidFill>
          <a:ln w="6350">
            <a:solidFill>
              <a:srgbClr val="DDD8C8"/>
            </a:solidFill>
            <a:prstDash val="solid"/>
          </a:ln>
        </p:spPr>
      </p:sp>
      <p:sp>
        <p:nvSpPr>
          <p:cNvPr id="21" name="Text 15"/>
          <p:cNvSpPr/>
          <p:nvPr/>
        </p:nvSpPr>
        <p:spPr>
          <a:xfrm>
            <a:off x="9870440" y="2673113"/>
            <a:ext cx="1402080" cy="26924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4263A"/>
                </a:solidFill>
                <a:latin typeface="Public Sans" pitchFamily="34" charset="0"/>
                <a:ea typeface="Public Sans" pitchFamily="34" charset="-122"/>
                <a:cs typeface="Public Sans" pitchFamily="34" charset="-120"/>
              </a:rPr>
              <a:t>Grafana</a:t>
            </a:r>
            <a:endParaRPr lang="en-US" sz="1600" dirty="0"/>
          </a:p>
        </p:txBody>
      </p:sp>
      <p:sp>
        <p:nvSpPr>
          <p:cNvPr id="22" name="Text 16"/>
          <p:cNvSpPr/>
          <p:nvPr/>
        </p:nvSpPr>
        <p:spPr>
          <a:xfrm>
            <a:off x="9870440" y="2993152"/>
            <a:ext cx="1402080" cy="24828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3D4A57"/>
                </a:solidFill>
                <a:latin typeface="Public Sans" pitchFamily="34" charset="0"/>
                <a:ea typeface="Public Sans" pitchFamily="34" charset="-122"/>
                <a:cs typeface="Public Sans" pitchFamily="34" charset="-120"/>
              </a:rPr>
              <a:t>tablero gerencial</a:t>
            </a:r>
            <a:endParaRPr lang="en-US" sz="1300" dirty="0"/>
          </a:p>
        </p:txBody>
      </p:sp>
      <p:sp>
        <p:nvSpPr>
          <p:cNvPr id="23" name="Text 17"/>
          <p:cNvSpPr/>
          <p:nvPr/>
        </p:nvSpPr>
        <p:spPr>
          <a:xfrm>
            <a:off x="812800" y="4283948"/>
            <a:ext cx="10566400" cy="571500"/>
          </a:xfrm>
          <a:prstGeom prst="roundRect">
            <a:avLst>
              <a:gd name="adj" fmla="val 17778"/>
            </a:avLst>
          </a:prstGeom>
          <a:solidFill>
            <a:srgbClr val="14263A"/>
          </a:solidFill>
          <a:ln/>
        </p:spPr>
        <p:txBody>
          <a:bodyPr wrap="square" lIns="173442" tIns="122642" rIns="0" bIns="97242" rtlCol="0" anchor="t">
            <a:normAutofit/>
          </a:bodyPr>
          <a:lstStyle/>
          <a:p>
            <a:pPr algn="l" indent="0" marL="0">
              <a:lnSpc>
                <a:spcPts val="2100"/>
              </a:lnSpc>
              <a:buNone/>
            </a:pPr>
            <a:r>
              <a:rPr lang="en-US" sz="1500" b="1" dirty="0">
                <a:solidFill>
                  <a:srgbClr val="F5F3EC"/>
                </a:solidFill>
                <a:latin typeface="Public Sans" pitchFamily="34" charset="0"/>
                <a:ea typeface="Public Sans" pitchFamily="34" charset="-122"/>
                <a:cs typeface="Public Sans" pitchFamily="34" charset="-120"/>
              </a:rPr>
              <a:t>Prefect</a:t>
            </a:r>
            <a:r>
              <a:rPr lang="en-US" sz="1500" dirty="0">
                <a:solidFill>
                  <a:srgbClr val="F5F3EC"/>
                </a:solidFill>
                <a:latin typeface="Public Sans" pitchFamily="34" charset="0"/>
                <a:ea typeface="Public Sans" pitchFamily="34" charset="-122"/>
                <a:cs typeface="Public Sans" pitchFamily="34" charset="-120"/>
              </a:rPr>
              <a:t> orquesta todo el recorrido y lo repite cuando entra un mes nuevo.</a:t>
            </a:r>
            <a:endParaRPr lang="en-US" sz="1500" dirty="0"/>
          </a:p>
        </p:txBody>
      </p:sp>
      <p:sp>
        <p:nvSpPr>
          <p:cNvPr id="24" name="Text 18"/>
          <p:cNvSpPr/>
          <p:nvPr/>
        </p:nvSpPr>
        <p:spPr>
          <a:xfrm>
            <a:off x="812800" y="5593082"/>
            <a:ext cx="1088339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A57"/>
                </a:solidFill>
                <a:latin typeface="Public Sans" pitchFamily="34" charset="0"/>
                <a:ea typeface="Public Sans" pitchFamily="34" charset="-122"/>
                <a:cs typeface="Public Sans" pitchFamily="34" charset="-120"/>
              </a:rPr>
              <a:t>CRISP-DM: negocio · datos · preparación · análisis · evaluación · despliegue</a:t>
            </a:r>
            <a:endParaRPr lang="en-US" sz="1400" dirty="0"/>
          </a:p>
        </p:txBody>
      </p:sp>
      <p:sp>
        <p:nvSpPr>
          <p:cNvPr id="25" name="Text 19"/>
          <p:cNvSpPr/>
          <p:nvPr/>
        </p:nvSpPr>
        <p:spPr>
          <a:xfrm>
            <a:off x="812800" y="6238239"/>
            <a:ext cx="85026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6"/>
                </a:solidFill>
                <a:latin typeface="Public Sans" pitchFamily="34" charset="0"/>
                <a:ea typeface="Public Sans" pitchFamily="34" charset="-122"/>
                <a:cs typeface="Public Sans" pitchFamily="34" charset="-120"/>
              </a:rPr>
              <a:t>Rodaje en tierra y CO2 · BTS 2023–2025</a:t>
            </a:r>
            <a:endParaRPr lang="en-US" sz="1200" dirty="0"/>
          </a:p>
        </p:txBody>
      </p:sp>
      <p:sp>
        <p:nvSpPr>
          <p:cNvPr id="26" name="Text 20"/>
          <p:cNvSpPr/>
          <p:nvPr/>
        </p:nvSpPr>
        <p:spPr>
          <a:xfrm>
            <a:off x="10566400" y="6238239"/>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B76"/>
                </a:solidFill>
                <a:latin typeface="Public Sans" pitchFamily="34" charset="0"/>
                <a:ea typeface="Public Sans" pitchFamily="34" charset="-122"/>
                <a:cs typeface="Public Sans" pitchFamily="34"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B85A12"/>
                </a:solidFill>
                <a:latin typeface="Public Sans" pitchFamily="34" charset="0"/>
                <a:ea typeface="Public Sans" pitchFamily="34" charset="-122"/>
                <a:cs typeface="Public Sans" pitchFamily="34" charset="-120"/>
              </a:rPr>
              <a:t>HERRAMIENTAS</a:t>
            </a:r>
            <a:endParaRPr lang="en-US" sz="1300" dirty="0"/>
          </a:p>
        </p:txBody>
      </p:sp>
      <p:sp>
        <p:nvSpPr>
          <p:cNvPr id="3" name="Text 1"/>
          <p:cNvSpPr/>
          <p:nvPr>
            <p:ph type="title"/>
          </p:nvPr>
        </p:nvSpPr>
        <p:spPr>
          <a:xfrm>
            <a:off x="812800" y="1196339"/>
            <a:ext cx="10883392" cy="84328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4263A"/>
                </a:solidFill>
                <a:latin typeface="Libre Baskerville" pitchFamily="18" charset="0"/>
                <a:ea typeface="Libre Baskerville" pitchFamily="18" charset="-122"/>
                <a:cs typeface="Libre Baskerville" pitchFamily="18" charset="-120"/>
              </a:rPr>
              <a:t>Prefect repite el flujo; Dask se mide en dos configuraciones</a:t>
            </a:r>
            <a:endParaRPr lang="en-US" sz="2800" dirty="0"/>
          </a:p>
        </p:txBody>
      </p:sp>
      <p:sp>
        <p:nvSpPr>
          <p:cNvPr id="4" name="Shape 2"/>
          <p:cNvSpPr/>
          <p:nvPr/>
        </p:nvSpPr>
        <p:spPr>
          <a:xfrm>
            <a:off x="815975" y="3024507"/>
            <a:ext cx="5175250" cy="2814320"/>
          </a:xfrm>
          <a:prstGeom prst="roundRect">
            <a:avLst>
              <a:gd name="adj" fmla="val 3497"/>
            </a:avLst>
          </a:prstGeom>
          <a:solidFill>
            <a:srgbClr val="FCFBF7"/>
          </a:solidFill>
          <a:ln w="6350">
            <a:solidFill>
              <a:srgbClr val="DDD8C8"/>
            </a:solidFill>
            <a:prstDash val="solid"/>
          </a:ln>
        </p:spPr>
      </p:sp>
      <p:sp>
        <p:nvSpPr>
          <p:cNvPr id="5" name="Text 3"/>
          <p:cNvSpPr/>
          <p:nvPr/>
        </p:nvSpPr>
        <p:spPr>
          <a:xfrm>
            <a:off x="1071880" y="3280411"/>
            <a:ext cx="4803343"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63A"/>
                </a:solidFill>
                <a:latin typeface="Public Sans" pitchFamily="34" charset="0"/>
                <a:ea typeface="Public Sans" pitchFamily="34" charset="-122"/>
                <a:cs typeface="Public Sans" pitchFamily="34" charset="-120"/>
              </a:rPr>
              <a:t>Prefect: flujo recurrente</a:t>
            </a:r>
            <a:endParaRPr lang="en-US" sz="1800" dirty="0"/>
          </a:p>
        </p:txBody>
      </p:sp>
      <p:sp>
        <p:nvSpPr>
          <p:cNvPr id="6" name="Text 4"/>
          <p:cNvSpPr/>
          <p:nvPr/>
        </p:nvSpPr>
        <p:spPr>
          <a:xfrm>
            <a:off x="1156462" y="3681732"/>
            <a:ext cx="4711141" cy="1056640"/>
          </a:xfrm>
          <a:prstGeom prst="rect">
            <a:avLst/>
          </a:prstGeom>
          <a:noFill/>
          <a:ln/>
        </p:spPr>
        <p:txBody>
          <a:bodyPr wrap="square" lIns="0" tIns="0" rIns="0" bIns="0" rtlCol="0" anchor="t">
            <a:normAutofit/>
          </a:bodyPr>
          <a:lstStyle/>
          <a:p>
            <a:pPr algn="l" marL="169418" indent="-169418">
              <a:lnSpc>
                <a:spcPts val="2030"/>
              </a:lnSpc>
              <a:buSzPct val="100000"/>
              <a:buChar char="•"/>
            </a:pPr>
            <a:r>
              <a:rPr lang="en-US" sz="1400" dirty="0">
                <a:solidFill>
                  <a:srgbClr val="3D4A57"/>
                </a:solidFill>
                <a:latin typeface="Public Sans" pitchFamily="34" charset="0"/>
                <a:ea typeface="Public Sans" pitchFamily="34" charset="-122"/>
                <a:cs typeface="Public Sans" pitchFamily="34" charset="-120"/>
              </a:rPr>
              <a:t>Descarga un mes solo si falta el ZIP.</a:t>
            </a:r>
            <a:endParaRPr lang="en-US" sz="1400" dirty="0"/>
          </a:p>
          <a:p>
            <a:pPr algn="l" marL="169418" indent="-169418">
              <a:lnSpc>
                <a:spcPts val="2030"/>
              </a:lnSpc>
              <a:buSzPct val="100000"/>
              <a:buChar char="•"/>
            </a:pPr>
            <a:r>
              <a:rPr lang="en-US" sz="1400" dirty="0">
                <a:solidFill>
                  <a:srgbClr val="3D4A57"/>
                </a:solidFill>
                <a:latin typeface="Public Sans" pitchFamily="34" charset="0"/>
                <a:ea typeface="Public Sans" pitchFamily="34" charset="-122"/>
                <a:cs typeface="Public Sans" pitchFamily="34" charset="-120"/>
              </a:rPr>
              <a:t>Convierte a Parquet solo los meses nuevos.</a:t>
            </a:r>
            <a:endParaRPr lang="en-US" sz="1400" dirty="0"/>
          </a:p>
          <a:p>
            <a:pPr algn="l" marL="169418" indent="-169418">
              <a:lnSpc>
                <a:spcPts val="2030"/>
              </a:lnSpc>
              <a:buSzPct val="100000"/>
              <a:buChar char="•"/>
            </a:pPr>
            <a:r>
              <a:rPr lang="en-US" sz="1400" dirty="0">
                <a:solidFill>
                  <a:srgbClr val="3D4A57"/>
                </a:solidFill>
                <a:latin typeface="Public Sans" pitchFamily="34" charset="0"/>
                <a:ea typeface="Public Sans" pitchFamily="34" charset="-122"/>
                <a:cs typeface="Public Sans" pitchFamily="34" charset="-120"/>
              </a:rPr>
              <a:t>Al final recalcula todo el CO2.</a:t>
            </a:r>
            <a:endParaRPr lang="en-US" sz="1400" dirty="0"/>
          </a:p>
          <a:p>
            <a:pPr algn="l" marL="169418" indent="-169418">
              <a:lnSpc>
                <a:spcPts val="2030"/>
              </a:lnSpc>
              <a:buSzPct val="100000"/>
              <a:buChar char="•"/>
            </a:pPr>
            <a:r>
              <a:rPr lang="en-US" sz="1400" dirty="0">
                <a:solidFill>
                  <a:srgbClr val="3D4A57"/>
                </a:solidFill>
                <a:latin typeface="Public Sans" pitchFamily="34" charset="0"/>
                <a:ea typeface="Public Sans" pitchFamily="34" charset="-122"/>
                <a:cs typeface="Public Sans" pitchFamily="34" charset="-120"/>
              </a:rPr>
              <a:t>Si un archivo falla, lo registra y sigue.</a:t>
            </a:r>
            <a:endParaRPr lang="en-US" sz="1400" dirty="0"/>
          </a:p>
        </p:txBody>
      </p:sp>
      <p:sp>
        <p:nvSpPr>
          <p:cNvPr id="7" name="Text 5"/>
          <p:cNvSpPr/>
          <p:nvPr/>
        </p:nvSpPr>
        <p:spPr>
          <a:xfrm>
            <a:off x="1071880" y="4839971"/>
            <a:ext cx="4803343"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F6B76"/>
                </a:solidFill>
                <a:latin typeface="Public Sans" pitchFamily="34" charset="0"/>
                <a:ea typeface="Public Sans" pitchFamily="34" charset="-122"/>
                <a:cs typeface="Public Sans" pitchFamily="34" charset="-120"/>
              </a:rPr>
              <a:t>Corrida del 6 de octubre: omitió los 36 meses y dejó 12.164 filas de aeropuerto-mes.</a:t>
            </a:r>
            <a:endParaRPr lang="en-US" sz="1300" dirty="0"/>
          </a:p>
        </p:txBody>
      </p:sp>
      <p:sp>
        <p:nvSpPr>
          <p:cNvPr id="8" name="Shape 6"/>
          <p:cNvSpPr/>
          <p:nvPr/>
        </p:nvSpPr>
        <p:spPr>
          <a:xfrm>
            <a:off x="6200775" y="3024507"/>
            <a:ext cx="5175250" cy="2814320"/>
          </a:xfrm>
          <a:prstGeom prst="roundRect">
            <a:avLst>
              <a:gd name="adj" fmla="val 3497"/>
            </a:avLst>
          </a:prstGeom>
          <a:solidFill>
            <a:srgbClr val="FCFBF7"/>
          </a:solidFill>
          <a:ln w="6350">
            <a:solidFill>
              <a:srgbClr val="DDD8C8"/>
            </a:solidFill>
            <a:prstDash val="solid"/>
          </a:ln>
        </p:spPr>
      </p:sp>
      <p:sp>
        <p:nvSpPr>
          <p:cNvPr id="9" name="Text 7"/>
          <p:cNvSpPr/>
          <p:nvPr/>
        </p:nvSpPr>
        <p:spPr>
          <a:xfrm>
            <a:off x="6456680" y="3280411"/>
            <a:ext cx="4803343"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63A"/>
                </a:solidFill>
                <a:latin typeface="Public Sans" pitchFamily="34" charset="0"/>
                <a:ea typeface="Public Sans" pitchFamily="34" charset="-122"/>
                <a:cs typeface="Public Sans" pitchFamily="34" charset="-120"/>
              </a:rPr>
              <a:t>Dask: dos configuraciones</a:t>
            </a:r>
            <a:endParaRPr lang="en-US" sz="18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466840" y="3691892"/>
          <a:ext cx="4653280" cy="1301750"/>
        </p:xfrm>
        <a:graphic>
          <a:graphicData uri="http://schemas.openxmlformats.org/drawingml/2006/table">
            <a:tbl>
              <a:tblPr/>
              <a:tblGrid>
                <a:gridCol w="2140509"/>
                <a:gridCol w="1116787"/>
                <a:gridCol w="1395984"/>
              </a:tblGrid>
              <a:tr h="356870">
                <a:tc>
                  <a:txBody>
                    <a:bodyPr/>
                    <a:lstStyle/>
                    <a:p>
                      <a:pPr indent="0" marL="0">
                        <a:lnSpc>
                          <a:spcPts val="1820"/>
                        </a:lnSpc>
                        <a:buNone/>
                      </a:pPr>
                      <a:r>
                        <a:rPr lang="en-US" sz="1300" b="1" dirty="0">
                          <a:solidFill>
                            <a:srgbClr val="14263A"/>
                          </a:solidFill>
                          <a:latin typeface="Public Sans" pitchFamily="34" charset="0"/>
                          <a:ea typeface="Public Sans" pitchFamily="34" charset="-122"/>
                          <a:cs typeface="Public Sans" pitchFamily="34" charset="-120"/>
                        </a:rPr>
                        <a:t>Configuración</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9C8C5"/>
                      </a:solidFill>
                      <a:prstDash val="solid"/>
                      <a:round/>
                      <a:headEnd type="none" w="med" len="med"/>
                      <a:tailEnd type="none" w="med" len="med"/>
                    </a:lnL>
                    <a:lnR w="12700" cap="flat" cmpd="sng" algn="ctr">
                      <a:solidFill>
                        <a:srgbClr val="BABAB7"/>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BABAB7"/>
                      </a:solidFill>
                      <a:prstDash val="solid"/>
                      <a:round/>
                      <a:headEnd type="none" w="med" len="med"/>
                      <a:tailEnd type="none" w="med" len="med"/>
                    </a:lnB>
                    <a:solidFill>
                      <a:srgbClr val="E9E9E5"/>
                    </a:solidFill>
                  </a:tcPr>
                </a:tc>
                <a:tc>
                  <a:txBody>
                    <a:bodyPr/>
                    <a:lstStyle/>
                    <a:p>
                      <a:pPr algn="r" indent="0" marL="0">
                        <a:lnSpc>
                          <a:spcPts val="1820"/>
                        </a:lnSpc>
                        <a:buNone/>
                      </a:pPr>
                      <a:r>
                        <a:rPr lang="en-US" sz="1300" b="1" dirty="0">
                          <a:solidFill>
                            <a:srgbClr val="14263A"/>
                          </a:solidFill>
                          <a:latin typeface="Public Sans" pitchFamily="34" charset="0"/>
                          <a:ea typeface="Public Sans" pitchFamily="34" charset="-122"/>
                          <a:cs typeface="Public Sans" pitchFamily="34" charset="-120"/>
                        </a:rPr>
                        <a:t>Tiempo</a:t>
                      </a:r>
                      <a:endParaRPr lang="en-US" sz="1300" dirty="0">
                        <a:latin typeface="Public Sans" charset="0"/>
                        <a:ea typeface="Public Sans" charset="0"/>
                        <a:cs typeface="Public Sans" charset="0"/>
                      </a:endParaRPr>
                    </a:p>
                  </a:txBody>
                  <a:tcPr marL="57785" marR="57785" marT="57785" marB="57785" anchor="t">
                    <a:lnL w="12700" cap="flat" cmpd="sng" algn="ctr">
                      <a:solidFill>
                        <a:srgbClr val="BABAB7"/>
                      </a:solidFill>
                      <a:prstDash val="solid"/>
                      <a:round/>
                      <a:headEnd type="none" w="med" len="med"/>
                      <a:tailEnd type="none" w="med" len="med"/>
                    </a:lnL>
                    <a:lnR w="12700" cap="flat" cmpd="sng" algn="ctr">
                      <a:solidFill>
                        <a:srgbClr val="BABAB7"/>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BABAB7"/>
                      </a:solidFill>
                      <a:prstDash val="solid"/>
                      <a:round/>
                      <a:headEnd type="none" w="med" len="med"/>
                      <a:tailEnd type="none" w="med" len="med"/>
                    </a:lnB>
                    <a:solidFill>
                      <a:srgbClr val="E9E9E5"/>
                    </a:solidFill>
                  </a:tcPr>
                </a:tc>
                <a:tc>
                  <a:txBody>
                    <a:bodyPr/>
                    <a:lstStyle/>
                    <a:p>
                      <a:pPr algn="r" indent="0" marL="0">
                        <a:lnSpc>
                          <a:spcPts val="1820"/>
                        </a:lnSpc>
                        <a:buNone/>
                      </a:pPr>
                      <a:r>
                        <a:rPr lang="en-US" sz="1300" b="1" dirty="0">
                          <a:solidFill>
                            <a:srgbClr val="14263A"/>
                          </a:solidFill>
                          <a:latin typeface="Public Sans" pitchFamily="34" charset="0"/>
                          <a:ea typeface="Public Sans" pitchFamily="34" charset="-122"/>
                          <a:cs typeface="Public Sans" pitchFamily="34" charset="-120"/>
                        </a:rPr>
                        <a:t>Pico memoria</a:t>
                      </a:r>
                      <a:endParaRPr lang="en-US" sz="1300" dirty="0">
                        <a:latin typeface="Public Sans" charset="0"/>
                        <a:ea typeface="Public Sans" charset="0"/>
                        <a:cs typeface="Public Sans" charset="0"/>
                      </a:endParaRPr>
                    </a:p>
                  </a:txBody>
                  <a:tcPr marL="57785" marR="57785" marT="57785" marB="57785" anchor="t">
                    <a:lnL w="12700" cap="flat" cmpd="sng" algn="ctr">
                      <a:solidFill>
                        <a:srgbClr val="BABAB7"/>
                      </a:solidFill>
                      <a:prstDash val="solid"/>
                      <a:round/>
                      <a:headEnd type="none" w="med" len="med"/>
                      <a:tailEnd type="none" w="med" len="med"/>
                    </a:lnL>
                    <a:lnR w="12700" cap="flat" cmpd="sng" algn="ctr">
                      <a:solidFill>
                        <a:srgbClr val="BABAB7"/>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BABAB7"/>
                      </a:solidFill>
                      <a:prstDash val="solid"/>
                      <a:round/>
                      <a:headEnd type="none" w="med" len="med"/>
                      <a:tailEnd type="none" w="med" len="med"/>
                    </a:lnB>
                    <a:solidFill>
                      <a:srgbClr val="E9E9E5"/>
                    </a:solidFill>
                  </a:tcPr>
                </a:tc>
              </a:tr>
              <a:tr h="588010">
                <a:tc>
                  <a:txBody>
                    <a:bodyPr/>
                    <a:lstStyle/>
                    <a:p>
                      <a:pPr indent="0" marL="0">
                        <a:lnSpc>
                          <a:spcPts val="1820"/>
                        </a:lnSpc>
                        <a:buNone/>
                      </a:pPr>
                      <a:r>
                        <a:rPr lang="en-US" sz="1300" dirty="0">
                          <a:solidFill>
                            <a:srgbClr val="14263A"/>
                          </a:solidFill>
                          <a:latin typeface="Public Sans" pitchFamily="34" charset="0"/>
                          <a:ea typeface="Public Sans" pitchFamily="34" charset="-122"/>
                          <a:cs typeface="Public Sans" pitchFamily="34" charset="-120"/>
                        </a:rPr>
                        <a:t>A: 2 workers × 2 hilos, 2 GB</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BABAB7"/>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c>
                  <a:txBody>
                    <a:bodyPr/>
                    <a:lstStyle/>
                    <a:p>
                      <a:pPr algn="r" indent="0" marL="0">
                        <a:lnSpc>
                          <a:spcPts val="1820"/>
                        </a:lnSpc>
                        <a:buNone/>
                      </a:pPr>
                      <a:r>
                        <a:rPr lang="en-US" sz="1300" dirty="0">
                          <a:solidFill>
                            <a:srgbClr val="14263A"/>
                          </a:solidFill>
                          <a:latin typeface="Public Sans" pitchFamily="34" charset="0"/>
                          <a:ea typeface="Public Sans" pitchFamily="34" charset="-122"/>
                          <a:cs typeface="Public Sans" pitchFamily="34" charset="-120"/>
                        </a:rPr>
                        <a:t>8,0 s</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BABAB7"/>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c>
                  <a:txBody>
                    <a:bodyPr/>
                    <a:lstStyle/>
                    <a:p>
                      <a:pPr algn="r" indent="0" marL="0">
                        <a:lnSpc>
                          <a:spcPts val="1820"/>
                        </a:lnSpc>
                        <a:buNone/>
                      </a:pPr>
                      <a:r>
                        <a:rPr lang="en-US" sz="1300" dirty="0">
                          <a:solidFill>
                            <a:srgbClr val="14263A"/>
                          </a:solidFill>
                          <a:latin typeface="Public Sans" pitchFamily="34" charset="0"/>
                          <a:ea typeface="Public Sans" pitchFamily="34" charset="-122"/>
                          <a:cs typeface="Public Sans" pitchFamily="34" charset="-120"/>
                        </a:rPr>
                        <a:t>2.037 MB</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BABAB7"/>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r>
              <a:tr h="356870">
                <a:tc>
                  <a:txBody>
                    <a:bodyPr/>
                    <a:lstStyle/>
                    <a:p>
                      <a:pPr indent="0" marL="0">
                        <a:lnSpc>
                          <a:spcPts val="1820"/>
                        </a:lnSpc>
                        <a:buNone/>
                      </a:pPr>
                      <a:r>
                        <a:rPr lang="en-US" sz="1300" dirty="0">
                          <a:solidFill>
                            <a:srgbClr val="14263A"/>
                          </a:solidFill>
                          <a:latin typeface="Public Sans" pitchFamily="34" charset="0"/>
                          <a:ea typeface="Public Sans" pitchFamily="34" charset="-122"/>
                          <a:cs typeface="Public Sans" pitchFamily="34" charset="-120"/>
                        </a:rPr>
                        <a:t>B: 4 workers × 1 hilo, 1 GB</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c>
                  <a:txBody>
                    <a:bodyPr/>
                    <a:lstStyle/>
                    <a:p>
                      <a:pPr algn="r" indent="0" marL="0">
                        <a:lnSpc>
                          <a:spcPts val="1820"/>
                        </a:lnSpc>
                        <a:buNone/>
                      </a:pPr>
                      <a:r>
                        <a:rPr lang="en-US" sz="1300" dirty="0">
                          <a:solidFill>
                            <a:srgbClr val="14263A"/>
                          </a:solidFill>
                          <a:latin typeface="Public Sans" pitchFamily="34" charset="0"/>
                          <a:ea typeface="Public Sans" pitchFamily="34" charset="-122"/>
                          <a:cs typeface="Public Sans" pitchFamily="34" charset="-120"/>
                        </a:rPr>
                        <a:t>9,4 s</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c>
                  <a:txBody>
                    <a:bodyPr/>
                    <a:lstStyle/>
                    <a:p>
                      <a:pPr algn="r" indent="0" marL="0">
                        <a:lnSpc>
                          <a:spcPts val="1820"/>
                        </a:lnSpc>
                        <a:buNone/>
                      </a:pPr>
                      <a:r>
                        <a:rPr lang="en-US" sz="1300" dirty="0">
                          <a:solidFill>
                            <a:srgbClr val="14263A"/>
                          </a:solidFill>
                          <a:latin typeface="Public Sans" pitchFamily="34" charset="0"/>
                          <a:ea typeface="Public Sans" pitchFamily="34" charset="-122"/>
                          <a:cs typeface="Public Sans" pitchFamily="34" charset="-120"/>
                        </a:rPr>
                        <a:t>2.558 MB</a:t>
                      </a:r>
                      <a:endParaRPr lang="en-US" sz="1300" dirty="0">
                        <a:latin typeface="Public Sans" charset="0"/>
                        <a:ea typeface="Public Sans" charset="0"/>
                        <a:cs typeface="Public Sans" charset="0"/>
                      </a:endParaRPr>
                    </a:p>
                  </a:txBody>
                  <a:tcPr marL="57785" marR="57785" marT="57785" marB="57785"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9C8C5"/>
                      </a:solidFill>
                      <a:prstDash val="solid"/>
                      <a:round/>
                      <a:headEnd type="none" w="med" len="med"/>
                      <a:tailEnd type="none" w="med" len="med"/>
                    </a:lnB>
                  </a:tcPr>
                </a:tc>
              </a:tr>
            </a:tbl>
          </a:graphicData>
        </a:graphic>
      </p:graphicFrame>
      <p:sp>
        <p:nvSpPr>
          <p:cNvPr id="11" name="Text 8"/>
          <p:cNvSpPr/>
          <p:nvPr/>
        </p:nvSpPr>
        <p:spPr>
          <a:xfrm>
            <a:off x="6456680" y="5120639"/>
            <a:ext cx="4803343"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A57"/>
                </a:solidFill>
                <a:latin typeface="Public Sans" pitchFamily="34" charset="0"/>
                <a:ea typeface="Public Sans" pitchFamily="34" charset="-122"/>
                <a:cs typeface="Public Sans" pitchFamily="34" charset="-120"/>
              </a:rPr>
              <a:t>Ambas dan 7.042.250,7 t, igual que DuckDB. Menos procesos con más hilos rindió mejor: coordinar pesa más que calcular.</a:t>
            </a:r>
            <a:endParaRPr lang="en-US" sz="1300" dirty="0"/>
          </a:p>
        </p:txBody>
      </p:sp>
      <p:sp>
        <p:nvSpPr>
          <p:cNvPr id="12" name="Text 9"/>
          <p:cNvSpPr/>
          <p:nvPr/>
        </p:nvSpPr>
        <p:spPr>
          <a:xfrm>
            <a:off x="812800" y="6238239"/>
            <a:ext cx="85026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6"/>
                </a:solidFill>
                <a:latin typeface="Public Sans" pitchFamily="34" charset="0"/>
                <a:ea typeface="Public Sans" pitchFamily="34" charset="-122"/>
                <a:cs typeface="Public Sans" pitchFamily="34" charset="-120"/>
              </a:rPr>
              <a:t>Fuente: benchmark_dask.csv; ejecución propia</a:t>
            </a:r>
            <a:endParaRPr lang="en-US" sz="1200" dirty="0"/>
          </a:p>
        </p:txBody>
      </p:sp>
      <p:sp>
        <p:nvSpPr>
          <p:cNvPr id="13" name="Text 10"/>
          <p:cNvSpPr/>
          <p:nvPr/>
        </p:nvSpPr>
        <p:spPr>
          <a:xfrm>
            <a:off x="10566400" y="6238239"/>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B76"/>
                </a:solidFill>
                <a:latin typeface="Public Sans" pitchFamily="34" charset="0"/>
                <a:ea typeface="Public Sans" pitchFamily="34" charset="-122"/>
                <a:cs typeface="Public Sans" pitchFamily="34"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B85A12"/>
                </a:solidFill>
                <a:latin typeface="Public Sans" pitchFamily="34" charset="0"/>
                <a:ea typeface="Public Sans" pitchFamily="34" charset="-122"/>
                <a:cs typeface="Public Sans" pitchFamily="34" charset="-120"/>
              </a:rPr>
              <a:t>ENTREGA</a:t>
            </a:r>
            <a:endParaRPr lang="en-US" sz="1300" dirty="0"/>
          </a:p>
        </p:txBody>
      </p:sp>
      <p:sp>
        <p:nvSpPr>
          <p:cNvPr id="3" name="Text 1"/>
          <p:cNvSpPr/>
          <p:nvPr>
            <p:ph type="title"/>
          </p:nvPr>
        </p:nvSpPr>
        <p:spPr>
          <a:xfrm>
            <a:off x="812800" y="1196339"/>
            <a:ext cx="10883392" cy="43434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4263A"/>
                </a:solidFill>
                <a:latin typeface="Libre Baskerville" pitchFamily="18" charset="0"/>
                <a:ea typeface="Libre Baskerville" pitchFamily="18" charset="-122"/>
                <a:cs typeface="Libre Baskerville" pitchFamily="18" charset="-120"/>
              </a:rPr>
              <a:t>AWS guarda los resultados; Grafana los muestra</a:t>
            </a:r>
            <a:endParaRPr lang="en-US" sz="2800" dirty="0"/>
          </a:p>
        </p:txBody>
      </p:sp>
      <p:sp>
        <p:nvSpPr>
          <p:cNvPr id="4" name="Text 2"/>
          <p:cNvSpPr/>
          <p:nvPr/>
        </p:nvSpPr>
        <p:spPr>
          <a:xfrm>
            <a:off x="812800" y="3502661"/>
            <a:ext cx="4313296" cy="87884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D4A57"/>
                </a:solidFill>
                <a:latin typeface="Public Sans" pitchFamily="34" charset="0"/>
                <a:ea typeface="Public Sans" pitchFamily="34" charset="-122"/>
                <a:cs typeface="Public Sans" pitchFamily="34" charset="-120"/>
              </a:rPr>
              <a:t>A la base de datos suben solo tablas agregadas: unas </a:t>
            </a:r>
            <a:r>
              <a:rPr lang="en-US" sz="1600" b="1" dirty="0">
                <a:solidFill>
                  <a:srgbClr val="3D4A57"/>
                </a:solidFill>
                <a:latin typeface="Public Sans" pitchFamily="34" charset="0"/>
                <a:ea typeface="Public Sans" pitchFamily="34" charset="-122"/>
                <a:cs typeface="Public Sans" pitchFamily="34" charset="-120"/>
              </a:rPr>
              <a:t>17.350 filas</a:t>
            </a:r>
            <a:r>
              <a:rPr lang="en-US" sz="1600" dirty="0">
                <a:solidFill>
                  <a:srgbClr val="3D4A57"/>
                </a:solidFill>
                <a:latin typeface="Public Sans" pitchFamily="34" charset="0"/>
                <a:ea typeface="Public Sans" pitchFamily="34" charset="-122"/>
                <a:cs typeface="Public Sans" pitchFamily="34" charset="-120"/>
              </a:rPr>
              <a:t> en 7 tablas, nunca los 9,47 GB.</a:t>
            </a:r>
            <a:endParaRPr lang="en-US" sz="1600" dirty="0"/>
          </a:p>
        </p:txBody>
      </p:sp>
      <p:sp>
        <p:nvSpPr>
          <p:cNvPr id="5" name="Text 3"/>
          <p:cNvSpPr/>
          <p:nvPr/>
        </p:nvSpPr>
        <p:spPr>
          <a:xfrm>
            <a:off x="897382" y="4508500"/>
            <a:ext cx="4221094" cy="1358900"/>
          </a:xfrm>
          <a:prstGeom prst="rect">
            <a:avLst/>
          </a:prstGeom>
          <a:noFill/>
          <a:ln/>
        </p:spPr>
        <p:txBody>
          <a:bodyPr wrap="square" lIns="0" tIns="0" rIns="0" bIns="0" rtlCol="0" anchor="t">
            <a:normAutofit/>
          </a:bodyPr>
          <a:lstStyle/>
          <a:p>
            <a:pPr algn="l" marL="169418" indent="-169418">
              <a:lnSpc>
                <a:spcPts val="2100"/>
              </a:lnSpc>
              <a:buSzPct val="100000"/>
              <a:buChar char="•"/>
            </a:pPr>
            <a:r>
              <a:rPr lang="en-US" sz="1400" dirty="0">
                <a:solidFill>
                  <a:srgbClr val="3D4A57"/>
                </a:solidFill>
                <a:latin typeface="Public Sans" pitchFamily="34" charset="0"/>
                <a:ea typeface="Public Sans" pitchFamily="34" charset="-122"/>
                <a:cs typeface="Public Sans" pitchFamily="34" charset="-120"/>
              </a:rPr>
              <a:t>CO2 total y por año</a:t>
            </a:r>
            <a:endParaRPr lang="en-US" sz="1400" dirty="0"/>
          </a:p>
          <a:p>
            <a:pPr algn="l" marL="169418" indent="-169418">
              <a:lnSpc>
                <a:spcPts val="2100"/>
              </a:lnSpc>
              <a:buSzPct val="100000"/>
              <a:buChar char="•"/>
            </a:pPr>
            <a:r>
              <a:rPr lang="en-US" sz="1400" dirty="0">
                <a:solidFill>
                  <a:srgbClr val="3D4A57"/>
                </a:solidFill>
                <a:latin typeface="Public Sans" pitchFamily="34" charset="0"/>
                <a:ea typeface="Public Sans" pitchFamily="34" charset="-122"/>
                <a:cs typeface="Public Sans" pitchFamily="34" charset="-120"/>
              </a:rPr>
              <a:t>Top 10 de aeropuertos</a:t>
            </a:r>
            <a:endParaRPr lang="en-US" sz="1400" dirty="0"/>
          </a:p>
          <a:p>
            <a:pPr algn="l" marL="169418" indent="-169418">
              <a:lnSpc>
                <a:spcPts val="2100"/>
              </a:lnSpc>
              <a:buSzPct val="100000"/>
              <a:buChar char="•"/>
            </a:pPr>
            <a:r>
              <a:rPr lang="en-US" sz="1400" dirty="0">
                <a:solidFill>
                  <a:srgbClr val="3D4A57"/>
                </a:solidFill>
                <a:latin typeface="Public Sans" pitchFamily="34" charset="0"/>
                <a:ea typeface="Public Sans" pitchFamily="34" charset="-122"/>
                <a:cs typeface="Public Sans" pitchFamily="34" charset="-120"/>
              </a:rPr>
              <a:t>CO2 por hora de salida</a:t>
            </a:r>
            <a:endParaRPr lang="en-US" sz="1400" dirty="0"/>
          </a:p>
          <a:p>
            <a:pPr algn="l" marL="169418" indent="-169418">
              <a:lnSpc>
                <a:spcPts val="2100"/>
              </a:lnSpc>
              <a:buSzPct val="100000"/>
              <a:buChar char="•"/>
            </a:pPr>
            <a:r>
              <a:rPr lang="en-US" sz="1400" dirty="0">
                <a:solidFill>
                  <a:srgbClr val="3D4A57"/>
                </a:solidFill>
                <a:latin typeface="Public Sans" pitchFamily="34" charset="0"/>
                <a:ea typeface="Public Sans" pitchFamily="34" charset="-122"/>
                <a:cs typeface="Public Sans" pitchFamily="34" charset="-120"/>
              </a:rPr>
              <a:t>Aeropuertos más lentos</a:t>
            </a:r>
            <a:endParaRPr lang="en-US" sz="1400" dirty="0"/>
          </a:p>
          <a:p>
            <a:pPr algn="l" marL="169418" indent="-169418">
              <a:lnSpc>
                <a:spcPts val="2100"/>
              </a:lnSpc>
              <a:buSzPct val="100000"/>
              <a:buChar char="•"/>
            </a:pPr>
            <a:r>
              <a:rPr lang="en-US" sz="1400" dirty="0">
                <a:solidFill>
                  <a:srgbClr val="3D4A57"/>
                </a:solidFill>
                <a:latin typeface="Public Sans" pitchFamily="34" charset="0"/>
                <a:ea typeface="Public Sans" pitchFamily="34" charset="-122"/>
                <a:cs typeface="Public Sans" pitchFamily="34" charset="-120"/>
              </a:rPr>
              <a:t>Ahorro si baja el rodaje</a:t>
            </a:r>
            <a:endParaRPr lang="en-US" sz="1400" dirty="0"/>
          </a:p>
        </p:txBody>
      </p:sp>
      <p:sp>
        <p:nvSpPr>
          <p:cNvPr id="6" name="Text 4"/>
          <p:cNvSpPr/>
          <p:nvPr/>
        </p:nvSpPr>
        <p:spPr>
          <a:xfrm>
            <a:off x="5311616" y="3509011"/>
            <a:ext cx="6061234" cy="2326640"/>
          </a:xfrm>
          <a:prstGeom prst="roundRect">
            <a:avLst>
              <a:gd name="adj" fmla="val 4094"/>
            </a:avLst>
          </a:prstGeom>
          <a:solidFill>
            <a:srgbClr val="FFF4C2"/>
          </a:solidFill>
          <a:ln w="12700">
            <a:solidFill>
              <a:srgbClr val="B85A12"/>
            </a:solidFill>
            <a:prstDash val="dash"/>
          </a:ln>
        </p:spPr>
        <p:txBody>
          <a:bodyPr wrap="square" lIns="199052" tIns="280712" rIns="199052" bIns="280712" rtlCol="0" anchor="ctr">
            <a:normAutofit/>
          </a:bodyPr>
          <a:lstStyle/>
          <a:p>
            <a:pPr algn="ctr" indent="0" marL="0">
              <a:lnSpc>
                <a:spcPts val="2100"/>
              </a:lnSpc>
              <a:buNone/>
            </a:pPr>
            <a:r>
              <a:rPr lang="en-US" sz="1500" dirty="0">
                <a:solidFill>
                  <a:srgbClr val="14263A"/>
                </a:solidFill>
                <a:latin typeface="Public Sans" pitchFamily="34" charset="0"/>
                <a:ea typeface="Public Sans" pitchFamily="34" charset="-122"/>
                <a:cs typeface="Public Sans" pitchFamily="34" charset="-120"/>
              </a:rPr>
              <a:t>[Insertar captura del tablero de Grafana conectado a AWS RDS]</a:t>
            </a:r>
            <a:endParaRPr lang="en-US" sz="1500" dirty="0"/>
          </a:p>
        </p:txBody>
      </p:sp>
      <p:sp>
        <p:nvSpPr>
          <p:cNvPr id="7" name="Text 5"/>
          <p:cNvSpPr/>
          <p:nvPr/>
        </p:nvSpPr>
        <p:spPr>
          <a:xfrm>
            <a:off x="812800" y="6238239"/>
            <a:ext cx="85026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6"/>
                </a:solidFill>
                <a:latin typeface="Public Sans" pitchFamily="34" charset="0"/>
                <a:ea typeface="Public Sans" pitchFamily="34" charset="-122"/>
                <a:cs typeface="Public Sans" pitchFamily="34" charset="-120"/>
              </a:rPr>
              <a:t>Rodaje en tierra y CO2 · BTS 2023–2025</a:t>
            </a:r>
            <a:endParaRPr lang="en-US" sz="1200" dirty="0"/>
          </a:p>
        </p:txBody>
      </p:sp>
      <p:sp>
        <p:nvSpPr>
          <p:cNvPr id="8" name="Text 6"/>
          <p:cNvSpPr/>
          <p:nvPr/>
        </p:nvSpPr>
        <p:spPr>
          <a:xfrm>
            <a:off x="10566400" y="6238239"/>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B76"/>
                </a:solidFill>
                <a:latin typeface="Public Sans" pitchFamily="34" charset="0"/>
                <a:ea typeface="Public Sans" pitchFamily="34" charset="-122"/>
                <a:cs typeface="Public Sans" pitchFamily="34"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B85A12"/>
                </a:solidFill>
                <a:latin typeface="Public Sans" pitchFamily="34" charset="0"/>
                <a:ea typeface="Public Sans" pitchFamily="34" charset="-122"/>
                <a:cs typeface="Public Sans" pitchFamily="34" charset="-120"/>
              </a:rPr>
              <a:t>HALLAZGO 1 · DÓNDE</a:t>
            </a:r>
            <a:endParaRPr lang="en-US" sz="1300" dirty="0"/>
          </a:p>
        </p:txBody>
      </p:sp>
      <p:sp>
        <p:nvSpPr>
          <p:cNvPr id="3" name="Text 1"/>
          <p:cNvSpPr/>
          <p:nvPr>
            <p:ph type="title"/>
          </p:nvPr>
        </p:nvSpPr>
        <p:spPr>
          <a:xfrm>
            <a:off x="812800" y="1196339"/>
            <a:ext cx="10883392" cy="43434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4263A"/>
                </a:solidFill>
                <a:latin typeface="Libre Baskerville" pitchFamily="18" charset="0"/>
                <a:ea typeface="Libre Baskerville" pitchFamily="18" charset="-122"/>
                <a:cs typeface="Libre Baskerville" pitchFamily="18" charset="-120"/>
              </a:rPr>
              <a:t>Volumen y lentitud son dos palancas distintas</a:t>
            </a:r>
            <a:endParaRPr lang="en-US" sz="2800" dirty="0"/>
          </a:p>
        </p:txBody>
      </p:sp>
      <p:sp>
        <p:nvSpPr>
          <p:cNvPr id="4" name="Text 2"/>
          <p:cNvSpPr/>
          <p:nvPr/>
        </p:nvSpPr>
        <p:spPr>
          <a:xfrm>
            <a:off x="812800" y="2524761"/>
            <a:ext cx="5958641"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F6B76"/>
                </a:solidFill>
                <a:latin typeface="Public Sans" pitchFamily="34" charset="0"/>
                <a:ea typeface="Public Sans" pitchFamily="34" charset="-122"/>
                <a:cs typeface="Public Sans" pitchFamily="34" charset="-120"/>
              </a:rPr>
              <a:t>CO2 de rodaje de salida, miles de toneladas (escenario bajo)</a:t>
            </a:r>
            <a:endParaRPr lang="en-US" sz="1300" dirty="0"/>
          </a:p>
        </p:txBody>
      </p:sp>
      <p:sp>
        <p:nvSpPr>
          <p:cNvPr id="5" name="Text 3"/>
          <p:cNvSpPr/>
          <p:nvPr/>
        </p:nvSpPr>
        <p:spPr>
          <a:xfrm>
            <a:off x="812800" y="2832100"/>
            <a:ext cx="55880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63A"/>
                </a:solidFill>
                <a:latin typeface="Public Sans" pitchFamily="34" charset="0"/>
                <a:ea typeface="Public Sans" pitchFamily="34" charset="-122"/>
                <a:cs typeface="Public Sans" pitchFamily="34" charset="-120"/>
              </a:rPr>
              <a:t>ORD</a:t>
            </a:r>
            <a:endParaRPr lang="en-US" sz="1300" dirty="0"/>
          </a:p>
        </p:txBody>
      </p:sp>
      <p:sp>
        <p:nvSpPr>
          <p:cNvPr id="6" name="Shape 4"/>
          <p:cNvSpPr/>
          <p:nvPr/>
        </p:nvSpPr>
        <p:spPr>
          <a:xfrm>
            <a:off x="1422400" y="2833371"/>
            <a:ext cx="4445000" cy="228600"/>
          </a:xfrm>
          <a:prstGeom prst="rect">
            <a:avLst/>
          </a:prstGeom>
          <a:solidFill>
            <a:srgbClr val="D9701C"/>
          </a:solidFill>
          <a:ln/>
        </p:spPr>
      </p:sp>
      <p:sp>
        <p:nvSpPr>
          <p:cNvPr id="7" name="Text 5"/>
          <p:cNvSpPr/>
          <p:nvPr/>
        </p:nvSpPr>
        <p:spPr>
          <a:xfrm>
            <a:off x="5969000" y="2832100"/>
            <a:ext cx="365379"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263A"/>
                </a:solidFill>
                <a:latin typeface="Public Sans" pitchFamily="34" charset="0"/>
                <a:ea typeface="Public Sans" pitchFamily="34" charset="-122"/>
                <a:cs typeface="Public Sans" pitchFamily="34" charset="-120"/>
              </a:rPr>
              <a:t>392</a:t>
            </a:r>
            <a:endParaRPr lang="en-US" sz="1300" dirty="0"/>
          </a:p>
        </p:txBody>
      </p:sp>
      <p:sp>
        <p:nvSpPr>
          <p:cNvPr id="8" name="Text 6"/>
          <p:cNvSpPr/>
          <p:nvPr/>
        </p:nvSpPr>
        <p:spPr>
          <a:xfrm>
            <a:off x="812800" y="3139439"/>
            <a:ext cx="55880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63A"/>
                </a:solidFill>
                <a:latin typeface="Public Sans" pitchFamily="34" charset="0"/>
                <a:ea typeface="Public Sans" pitchFamily="34" charset="-122"/>
                <a:cs typeface="Public Sans" pitchFamily="34" charset="-120"/>
              </a:rPr>
              <a:t>DFW</a:t>
            </a:r>
            <a:endParaRPr lang="en-US" sz="1300" dirty="0"/>
          </a:p>
        </p:txBody>
      </p:sp>
      <p:sp>
        <p:nvSpPr>
          <p:cNvPr id="9" name="Shape 7"/>
          <p:cNvSpPr/>
          <p:nvPr/>
        </p:nvSpPr>
        <p:spPr>
          <a:xfrm>
            <a:off x="1422400" y="3140711"/>
            <a:ext cx="3797300" cy="228600"/>
          </a:xfrm>
          <a:prstGeom prst="rect">
            <a:avLst/>
          </a:prstGeom>
          <a:solidFill>
            <a:srgbClr val="2B4A6B"/>
          </a:solidFill>
          <a:ln/>
        </p:spPr>
      </p:sp>
      <p:sp>
        <p:nvSpPr>
          <p:cNvPr id="10" name="Text 8"/>
          <p:cNvSpPr/>
          <p:nvPr/>
        </p:nvSpPr>
        <p:spPr>
          <a:xfrm>
            <a:off x="5321300" y="3139439"/>
            <a:ext cx="375285"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263A"/>
                </a:solidFill>
                <a:latin typeface="Public Sans" pitchFamily="34" charset="0"/>
                <a:ea typeface="Public Sans" pitchFamily="34" charset="-122"/>
                <a:cs typeface="Public Sans" pitchFamily="34" charset="-120"/>
              </a:rPr>
              <a:t>335</a:t>
            </a:r>
            <a:endParaRPr lang="en-US" sz="1300" dirty="0"/>
          </a:p>
        </p:txBody>
      </p:sp>
      <p:sp>
        <p:nvSpPr>
          <p:cNvPr id="11" name="Text 9"/>
          <p:cNvSpPr/>
          <p:nvPr/>
        </p:nvSpPr>
        <p:spPr>
          <a:xfrm>
            <a:off x="812800" y="3446782"/>
            <a:ext cx="55880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63A"/>
                </a:solidFill>
                <a:latin typeface="Public Sans" pitchFamily="34" charset="0"/>
                <a:ea typeface="Public Sans" pitchFamily="34" charset="-122"/>
                <a:cs typeface="Public Sans" pitchFamily="34" charset="-120"/>
              </a:rPr>
              <a:t>DEN</a:t>
            </a:r>
            <a:endParaRPr lang="en-US" sz="1300" dirty="0"/>
          </a:p>
        </p:txBody>
      </p:sp>
      <p:sp>
        <p:nvSpPr>
          <p:cNvPr id="12" name="Shape 10"/>
          <p:cNvSpPr/>
          <p:nvPr/>
        </p:nvSpPr>
        <p:spPr>
          <a:xfrm>
            <a:off x="1422400" y="3448050"/>
            <a:ext cx="3644900" cy="228600"/>
          </a:xfrm>
          <a:prstGeom prst="rect">
            <a:avLst/>
          </a:prstGeom>
          <a:solidFill>
            <a:srgbClr val="2B4A6B"/>
          </a:solidFill>
          <a:ln/>
        </p:spPr>
      </p:sp>
      <p:sp>
        <p:nvSpPr>
          <p:cNvPr id="13" name="Text 11"/>
          <p:cNvSpPr/>
          <p:nvPr/>
        </p:nvSpPr>
        <p:spPr>
          <a:xfrm>
            <a:off x="5168900" y="3446782"/>
            <a:ext cx="323564"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263A"/>
                </a:solidFill>
                <a:latin typeface="Public Sans" pitchFamily="34" charset="0"/>
                <a:ea typeface="Public Sans" pitchFamily="34" charset="-122"/>
                <a:cs typeface="Public Sans" pitchFamily="34" charset="-120"/>
              </a:rPr>
              <a:t>321</a:t>
            </a:r>
            <a:endParaRPr lang="en-US" sz="1300" dirty="0"/>
          </a:p>
        </p:txBody>
      </p:sp>
      <p:sp>
        <p:nvSpPr>
          <p:cNvPr id="14" name="Text 12"/>
          <p:cNvSpPr/>
          <p:nvPr/>
        </p:nvSpPr>
        <p:spPr>
          <a:xfrm>
            <a:off x="812800" y="3754121"/>
            <a:ext cx="55880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63A"/>
                </a:solidFill>
                <a:latin typeface="Public Sans" pitchFamily="34" charset="0"/>
                <a:ea typeface="Public Sans" pitchFamily="34" charset="-122"/>
                <a:cs typeface="Public Sans" pitchFamily="34" charset="-120"/>
              </a:rPr>
              <a:t>ATL</a:t>
            </a:r>
            <a:endParaRPr lang="en-US" sz="1300" dirty="0"/>
          </a:p>
        </p:txBody>
      </p:sp>
      <p:sp>
        <p:nvSpPr>
          <p:cNvPr id="15" name="Shape 13"/>
          <p:cNvSpPr/>
          <p:nvPr/>
        </p:nvSpPr>
        <p:spPr>
          <a:xfrm>
            <a:off x="1422400" y="3755389"/>
            <a:ext cx="3479800" cy="228600"/>
          </a:xfrm>
          <a:prstGeom prst="rect">
            <a:avLst/>
          </a:prstGeom>
          <a:solidFill>
            <a:srgbClr val="2B4A6B"/>
          </a:solidFill>
          <a:ln/>
        </p:spPr>
      </p:sp>
      <p:sp>
        <p:nvSpPr>
          <p:cNvPr id="16" name="Text 14"/>
          <p:cNvSpPr/>
          <p:nvPr/>
        </p:nvSpPr>
        <p:spPr>
          <a:xfrm>
            <a:off x="5003800" y="3754121"/>
            <a:ext cx="36014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263A"/>
                </a:solidFill>
                <a:latin typeface="Public Sans" pitchFamily="34" charset="0"/>
                <a:ea typeface="Public Sans" pitchFamily="34" charset="-122"/>
                <a:cs typeface="Public Sans" pitchFamily="34" charset="-120"/>
              </a:rPr>
              <a:t>307</a:t>
            </a:r>
            <a:endParaRPr lang="en-US" sz="1300" dirty="0"/>
          </a:p>
        </p:txBody>
      </p:sp>
      <p:sp>
        <p:nvSpPr>
          <p:cNvPr id="17" name="Text 15"/>
          <p:cNvSpPr/>
          <p:nvPr/>
        </p:nvSpPr>
        <p:spPr>
          <a:xfrm>
            <a:off x="812800" y="4061461"/>
            <a:ext cx="55880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63A"/>
                </a:solidFill>
                <a:latin typeface="Public Sans" pitchFamily="34" charset="0"/>
                <a:ea typeface="Public Sans" pitchFamily="34" charset="-122"/>
                <a:cs typeface="Public Sans" pitchFamily="34" charset="-120"/>
              </a:rPr>
              <a:t>CLT</a:t>
            </a:r>
            <a:endParaRPr lang="en-US" sz="1300" dirty="0"/>
          </a:p>
        </p:txBody>
      </p:sp>
      <p:sp>
        <p:nvSpPr>
          <p:cNvPr id="18" name="Shape 16"/>
          <p:cNvSpPr/>
          <p:nvPr/>
        </p:nvSpPr>
        <p:spPr>
          <a:xfrm>
            <a:off x="1422400" y="4062732"/>
            <a:ext cx="2717800" cy="228600"/>
          </a:xfrm>
          <a:prstGeom prst="rect">
            <a:avLst/>
          </a:prstGeom>
          <a:solidFill>
            <a:srgbClr val="2B4A6B"/>
          </a:solidFill>
          <a:ln/>
        </p:spPr>
      </p:sp>
      <p:sp>
        <p:nvSpPr>
          <p:cNvPr id="19" name="Text 17"/>
          <p:cNvSpPr/>
          <p:nvPr/>
        </p:nvSpPr>
        <p:spPr>
          <a:xfrm>
            <a:off x="4241800" y="4061461"/>
            <a:ext cx="363855"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263A"/>
                </a:solidFill>
                <a:latin typeface="Public Sans" pitchFamily="34" charset="0"/>
                <a:ea typeface="Public Sans" pitchFamily="34" charset="-122"/>
                <a:cs typeface="Public Sans" pitchFamily="34" charset="-120"/>
              </a:rPr>
              <a:t>240</a:t>
            </a:r>
            <a:endParaRPr lang="en-US" sz="1300" dirty="0"/>
          </a:p>
        </p:txBody>
      </p:sp>
      <p:sp>
        <p:nvSpPr>
          <p:cNvPr id="20" name="Text 18"/>
          <p:cNvSpPr/>
          <p:nvPr/>
        </p:nvSpPr>
        <p:spPr>
          <a:xfrm>
            <a:off x="812800" y="4368800"/>
            <a:ext cx="55880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63A"/>
                </a:solidFill>
                <a:latin typeface="Public Sans" pitchFamily="34" charset="0"/>
                <a:ea typeface="Public Sans" pitchFamily="34" charset="-122"/>
                <a:cs typeface="Public Sans" pitchFamily="34" charset="-120"/>
              </a:rPr>
              <a:t>LGA</a:t>
            </a:r>
            <a:endParaRPr lang="en-US" sz="1300" dirty="0"/>
          </a:p>
        </p:txBody>
      </p:sp>
      <p:sp>
        <p:nvSpPr>
          <p:cNvPr id="21" name="Shape 19"/>
          <p:cNvSpPr/>
          <p:nvPr/>
        </p:nvSpPr>
        <p:spPr>
          <a:xfrm>
            <a:off x="1422400" y="4370071"/>
            <a:ext cx="2336800" cy="228600"/>
          </a:xfrm>
          <a:prstGeom prst="rect">
            <a:avLst/>
          </a:prstGeom>
          <a:solidFill>
            <a:srgbClr val="D9701C"/>
          </a:solidFill>
          <a:ln/>
        </p:spPr>
      </p:sp>
      <p:sp>
        <p:nvSpPr>
          <p:cNvPr id="22" name="Text 20"/>
          <p:cNvSpPr/>
          <p:nvPr/>
        </p:nvSpPr>
        <p:spPr>
          <a:xfrm>
            <a:off x="3860800" y="4368800"/>
            <a:ext cx="361378"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263A"/>
                </a:solidFill>
                <a:latin typeface="Public Sans" pitchFamily="34" charset="0"/>
                <a:ea typeface="Public Sans" pitchFamily="34" charset="-122"/>
                <a:cs typeface="Public Sans" pitchFamily="34" charset="-120"/>
              </a:rPr>
              <a:t>206</a:t>
            </a:r>
            <a:endParaRPr lang="en-US" sz="1300" dirty="0"/>
          </a:p>
        </p:txBody>
      </p:sp>
      <p:sp>
        <p:nvSpPr>
          <p:cNvPr id="23" name="Text 21"/>
          <p:cNvSpPr/>
          <p:nvPr/>
        </p:nvSpPr>
        <p:spPr>
          <a:xfrm>
            <a:off x="812800" y="4676139"/>
            <a:ext cx="55880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63A"/>
                </a:solidFill>
                <a:latin typeface="Public Sans" pitchFamily="34" charset="0"/>
                <a:ea typeface="Public Sans" pitchFamily="34" charset="-122"/>
                <a:cs typeface="Public Sans" pitchFamily="34" charset="-120"/>
              </a:rPr>
              <a:t>SEA</a:t>
            </a:r>
            <a:endParaRPr lang="en-US" sz="1300" dirty="0"/>
          </a:p>
        </p:txBody>
      </p:sp>
      <p:sp>
        <p:nvSpPr>
          <p:cNvPr id="24" name="Shape 22"/>
          <p:cNvSpPr/>
          <p:nvPr/>
        </p:nvSpPr>
        <p:spPr>
          <a:xfrm>
            <a:off x="1422400" y="4677411"/>
            <a:ext cx="2254250" cy="228600"/>
          </a:xfrm>
          <a:prstGeom prst="rect">
            <a:avLst/>
          </a:prstGeom>
          <a:solidFill>
            <a:srgbClr val="2B4A6B"/>
          </a:solidFill>
          <a:ln/>
        </p:spPr>
      </p:sp>
      <p:sp>
        <p:nvSpPr>
          <p:cNvPr id="25" name="Text 23"/>
          <p:cNvSpPr/>
          <p:nvPr/>
        </p:nvSpPr>
        <p:spPr>
          <a:xfrm>
            <a:off x="3778250" y="4676139"/>
            <a:ext cx="326803"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263A"/>
                </a:solidFill>
                <a:latin typeface="Public Sans" pitchFamily="34" charset="0"/>
                <a:ea typeface="Public Sans" pitchFamily="34" charset="-122"/>
                <a:cs typeface="Public Sans" pitchFamily="34" charset="-120"/>
              </a:rPr>
              <a:t>199</a:t>
            </a:r>
            <a:endParaRPr lang="en-US" sz="1300" dirty="0"/>
          </a:p>
        </p:txBody>
      </p:sp>
      <p:sp>
        <p:nvSpPr>
          <p:cNvPr id="26" name="Text 24"/>
          <p:cNvSpPr/>
          <p:nvPr/>
        </p:nvSpPr>
        <p:spPr>
          <a:xfrm>
            <a:off x="812800" y="4983482"/>
            <a:ext cx="55880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63A"/>
                </a:solidFill>
                <a:latin typeface="Public Sans" pitchFamily="34" charset="0"/>
                <a:ea typeface="Public Sans" pitchFamily="34" charset="-122"/>
                <a:cs typeface="Public Sans" pitchFamily="34" charset="-120"/>
              </a:rPr>
              <a:t>LAX</a:t>
            </a:r>
            <a:endParaRPr lang="en-US" sz="1300" dirty="0"/>
          </a:p>
        </p:txBody>
      </p:sp>
      <p:sp>
        <p:nvSpPr>
          <p:cNvPr id="27" name="Shape 25"/>
          <p:cNvSpPr/>
          <p:nvPr/>
        </p:nvSpPr>
        <p:spPr>
          <a:xfrm>
            <a:off x="1422400" y="4984750"/>
            <a:ext cx="2222500" cy="228600"/>
          </a:xfrm>
          <a:prstGeom prst="rect">
            <a:avLst/>
          </a:prstGeom>
          <a:solidFill>
            <a:srgbClr val="2B4A6B"/>
          </a:solidFill>
          <a:ln/>
        </p:spPr>
      </p:sp>
      <p:sp>
        <p:nvSpPr>
          <p:cNvPr id="28" name="Text 26"/>
          <p:cNvSpPr/>
          <p:nvPr/>
        </p:nvSpPr>
        <p:spPr>
          <a:xfrm>
            <a:off x="3746500" y="4983482"/>
            <a:ext cx="326422"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263A"/>
                </a:solidFill>
                <a:latin typeface="Public Sans" pitchFamily="34" charset="0"/>
                <a:ea typeface="Public Sans" pitchFamily="34" charset="-122"/>
                <a:cs typeface="Public Sans" pitchFamily="34" charset="-120"/>
              </a:rPr>
              <a:t>196</a:t>
            </a:r>
            <a:endParaRPr lang="en-US" sz="1300" dirty="0"/>
          </a:p>
        </p:txBody>
      </p:sp>
      <p:sp>
        <p:nvSpPr>
          <p:cNvPr id="29" name="Text 27"/>
          <p:cNvSpPr/>
          <p:nvPr/>
        </p:nvSpPr>
        <p:spPr>
          <a:xfrm>
            <a:off x="812800" y="5290821"/>
            <a:ext cx="55880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63A"/>
                </a:solidFill>
                <a:latin typeface="Public Sans" pitchFamily="34" charset="0"/>
                <a:ea typeface="Public Sans" pitchFamily="34" charset="-122"/>
                <a:cs typeface="Public Sans" pitchFamily="34" charset="-120"/>
              </a:rPr>
              <a:t>LAS</a:t>
            </a:r>
            <a:endParaRPr lang="en-US" sz="1300" dirty="0"/>
          </a:p>
        </p:txBody>
      </p:sp>
      <p:sp>
        <p:nvSpPr>
          <p:cNvPr id="30" name="Shape 28"/>
          <p:cNvSpPr/>
          <p:nvPr/>
        </p:nvSpPr>
        <p:spPr>
          <a:xfrm>
            <a:off x="1422400" y="5292089"/>
            <a:ext cx="2178050" cy="228600"/>
          </a:xfrm>
          <a:prstGeom prst="rect">
            <a:avLst/>
          </a:prstGeom>
          <a:solidFill>
            <a:srgbClr val="2B4A6B"/>
          </a:solidFill>
          <a:ln/>
        </p:spPr>
      </p:sp>
      <p:sp>
        <p:nvSpPr>
          <p:cNvPr id="31" name="Text 29"/>
          <p:cNvSpPr/>
          <p:nvPr/>
        </p:nvSpPr>
        <p:spPr>
          <a:xfrm>
            <a:off x="3702050" y="5290821"/>
            <a:ext cx="322517"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263A"/>
                </a:solidFill>
                <a:latin typeface="Public Sans" pitchFamily="34" charset="0"/>
                <a:ea typeface="Public Sans" pitchFamily="34" charset="-122"/>
                <a:cs typeface="Public Sans" pitchFamily="34" charset="-120"/>
              </a:rPr>
              <a:t>192</a:t>
            </a:r>
            <a:endParaRPr lang="en-US" sz="1300" dirty="0"/>
          </a:p>
        </p:txBody>
      </p:sp>
      <p:sp>
        <p:nvSpPr>
          <p:cNvPr id="32" name="Text 30"/>
          <p:cNvSpPr/>
          <p:nvPr/>
        </p:nvSpPr>
        <p:spPr>
          <a:xfrm>
            <a:off x="812800" y="5598161"/>
            <a:ext cx="558800"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63A"/>
                </a:solidFill>
                <a:latin typeface="Public Sans" pitchFamily="34" charset="0"/>
                <a:ea typeface="Public Sans" pitchFamily="34" charset="-122"/>
                <a:cs typeface="Public Sans" pitchFamily="34" charset="-120"/>
              </a:rPr>
              <a:t>JFK</a:t>
            </a:r>
            <a:endParaRPr lang="en-US" sz="1300" dirty="0"/>
          </a:p>
        </p:txBody>
      </p:sp>
      <p:sp>
        <p:nvSpPr>
          <p:cNvPr id="33" name="Shape 31"/>
          <p:cNvSpPr/>
          <p:nvPr/>
        </p:nvSpPr>
        <p:spPr>
          <a:xfrm>
            <a:off x="1422400" y="5599432"/>
            <a:ext cx="2051050" cy="228600"/>
          </a:xfrm>
          <a:prstGeom prst="rect">
            <a:avLst/>
          </a:prstGeom>
          <a:solidFill>
            <a:srgbClr val="D9701C"/>
          </a:solidFill>
          <a:ln/>
        </p:spPr>
      </p:sp>
      <p:sp>
        <p:nvSpPr>
          <p:cNvPr id="34" name="Text 32"/>
          <p:cNvSpPr/>
          <p:nvPr/>
        </p:nvSpPr>
        <p:spPr>
          <a:xfrm>
            <a:off x="3575050" y="5598161"/>
            <a:ext cx="29210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263A"/>
                </a:solidFill>
                <a:latin typeface="Public Sans" pitchFamily="34" charset="0"/>
                <a:ea typeface="Public Sans" pitchFamily="34" charset="-122"/>
                <a:cs typeface="Public Sans" pitchFamily="34" charset="-120"/>
              </a:rPr>
              <a:t>181</a:t>
            </a:r>
            <a:endParaRPr lang="en-US" sz="1300" dirty="0"/>
          </a:p>
        </p:txBody>
      </p:sp>
      <p:sp>
        <p:nvSpPr>
          <p:cNvPr id="35" name="Shape 33"/>
          <p:cNvSpPr/>
          <p:nvPr/>
        </p:nvSpPr>
        <p:spPr>
          <a:xfrm>
            <a:off x="7007463" y="2527936"/>
            <a:ext cx="4368562" cy="3310890"/>
          </a:xfrm>
          <a:prstGeom prst="roundRect">
            <a:avLst>
              <a:gd name="adj" fmla="val 2973"/>
            </a:avLst>
          </a:prstGeom>
          <a:solidFill>
            <a:srgbClr val="FCFBF7"/>
          </a:solidFill>
          <a:ln w="6350">
            <a:solidFill>
              <a:srgbClr val="DDD8C8"/>
            </a:solidFill>
            <a:prstDash val="solid"/>
          </a:ln>
        </p:spPr>
      </p:sp>
      <p:sp>
        <p:nvSpPr>
          <p:cNvPr id="36" name="Text 34"/>
          <p:cNvSpPr/>
          <p:nvPr/>
        </p:nvSpPr>
        <p:spPr>
          <a:xfrm>
            <a:off x="7263368" y="2783839"/>
            <a:ext cx="3972454"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63A"/>
                </a:solidFill>
                <a:latin typeface="Public Sans" pitchFamily="34" charset="0"/>
                <a:ea typeface="Public Sans" pitchFamily="34" charset="-122"/>
                <a:cs typeface="Public Sans" pitchFamily="34" charset="-120"/>
              </a:rPr>
              <a:t>Los más lentos</a:t>
            </a:r>
            <a:endParaRPr lang="en-US" sz="1800" dirty="0"/>
          </a:p>
        </p:txBody>
      </p:sp>
      <p:sp>
        <p:nvSpPr>
          <p:cNvPr id="37" name="Text 35"/>
          <p:cNvSpPr/>
          <p:nvPr/>
        </p:nvSpPr>
        <p:spPr>
          <a:xfrm>
            <a:off x="7263368" y="3185161"/>
            <a:ext cx="3972454"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F6B76"/>
                </a:solidFill>
                <a:latin typeface="Public Sans" pitchFamily="34" charset="0"/>
                <a:ea typeface="Public Sans" pitchFamily="34" charset="-122"/>
                <a:cs typeface="Public Sans" pitchFamily="34" charset="-120"/>
              </a:rPr>
              <a:t>Minutos promedio de salida, aeropuertos con más de 50.000 vuelos</a:t>
            </a:r>
            <a:endParaRPr lang="en-US" sz="1300" dirty="0"/>
          </a:p>
        </p:txBody>
      </p:sp>
      <p:sp>
        <p:nvSpPr>
          <p:cNvPr id="38" name="Text 36"/>
          <p:cNvSpPr/>
          <p:nvPr/>
        </p:nvSpPr>
        <p:spPr>
          <a:xfrm>
            <a:off x="7263368" y="3774439"/>
            <a:ext cx="3972454" cy="1244600"/>
          </a:xfrm>
          <a:prstGeom prst="rect">
            <a:avLst/>
          </a:prstGeom>
          <a:noFill/>
          <a:ln/>
        </p:spPr>
        <p:txBody>
          <a:bodyPr wrap="square" lIns="0" tIns="0" rIns="0" bIns="0" rtlCol="0" anchor="t">
            <a:normAutofit/>
          </a:bodyPr>
          <a:lstStyle/>
          <a:p>
            <a:pPr algn="l" indent="0" marL="0">
              <a:lnSpc>
                <a:spcPts val="2400"/>
              </a:lnSpc>
              <a:buNone/>
            </a:pPr>
            <a:r>
              <a:rPr lang="en-US" sz="1600" b="1" dirty="0">
                <a:solidFill>
                  <a:srgbClr val="14263A"/>
                </a:solidFill>
                <a:latin typeface="Public Sans" pitchFamily="34" charset="0"/>
                <a:ea typeface="Public Sans" pitchFamily="34" charset="-122"/>
                <a:cs typeface="Public Sans" pitchFamily="34" charset="-120"/>
              </a:rPr>
              <a:t>JFK</a:t>
            </a:r>
            <a:r>
              <a:rPr lang="en-US" sz="1600" dirty="0">
                <a:solidFill>
                  <a:srgbClr val="14263A"/>
                </a:solidFill>
                <a:latin typeface="Public Sans" pitchFamily="34" charset="0"/>
                <a:ea typeface="Public Sans" pitchFamily="34" charset="-122"/>
                <a:cs typeface="Public Sans" pitchFamily="34" charset="-120"/>
              </a:rPr>
              <a:t> 27,0 min</a:t>
            </a:r>
            <a:endParaRPr lang="en-US" sz="1600" dirty="0"/>
          </a:p>
          <a:p>
            <a:pPr algn="l" indent="0" marL="0">
              <a:lnSpc>
                <a:spcPts val="2400"/>
              </a:lnSpc>
              <a:buNone/>
            </a:pPr>
            <a:r>
              <a:rPr lang="en-US" sz="1600" b="1" dirty="0">
                <a:solidFill>
                  <a:srgbClr val="14263A"/>
                </a:solidFill>
                <a:latin typeface="Public Sans" pitchFamily="34" charset="0"/>
                <a:ea typeface="Public Sans" pitchFamily="34" charset="-122"/>
                <a:cs typeface="Public Sans" pitchFamily="34" charset="-120"/>
              </a:rPr>
              <a:t>EWR</a:t>
            </a:r>
            <a:r>
              <a:rPr lang="en-US" sz="1600" dirty="0">
                <a:solidFill>
                  <a:srgbClr val="14263A"/>
                </a:solidFill>
                <a:latin typeface="Public Sans" pitchFamily="34" charset="0"/>
                <a:ea typeface="Public Sans" pitchFamily="34" charset="-122"/>
                <a:cs typeface="Public Sans" pitchFamily="34" charset="-120"/>
              </a:rPr>
              <a:t> 24,6 min</a:t>
            </a:r>
            <a:endParaRPr lang="en-US" sz="1600" dirty="0"/>
          </a:p>
          <a:p>
            <a:pPr algn="l" indent="0" marL="0">
              <a:lnSpc>
                <a:spcPts val="2400"/>
              </a:lnSpc>
              <a:buNone/>
            </a:pPr>
            <a:r>
              <a:rPr lang="en-US" sz="1600" b="1" dirty="0">
                <a:solidFill>
                  <a:srgbClr val="14263A"/>
                </a:solidFill>
                <a:latin typeface="Public Sans" pitchFamily="34" charset="0"/>
                <a:ea typeface="Public Sans" pitchFamily="34" charset="-122"/>
                <a:cs typeface="Public Sans" pitchFamily="34" charset="-120"/>
              </a:rPr>
              <a:t>LGA</a:t>
            </a:r>
            <a:r>
              <a:rPr lang="en-US" sz="1600" dirty="0">
                <a:solidFill>
                  <a:srgbClr val="14263A"/>
                </a:solidFill>
                <a:latin typeface="Public Sans" pitchFamily="34" charset="0"/>
                <a:ea typeface="Public Sans" pitchFamily="34" charset="-122"/>
                <a:cs typeface="Public Sans" pitchFamily="34" charset="-120"/>
              </a:rPr>
              <a:t> 24,2 min</a:t>
            </a:r>
            <a:endParaRPr lang="en-US" sz="1600" dirty="0"/>
          </a:p>
          <a:p>
            <a:pPr algn="l" indent="0" marL="0">
              <a:lnSpc>
                <a:spcPts val="2400"/>
              </a:lnSpc>
              <a:buNone/>
            </a:pPr>
            <a:r>
              <a:rPr lang="en-US" sz="1600" b="1" dirty="0">
                <a:solidFill>
                  <a:srgbClr val="14263A"/>
                </a:solidFill>
                <a:latin typeface="Public Sans" pitchFamily="34" charset="0"/>
                <a:ea typeface="Public Sans" pitchFamily="34" charset="-122"/>
                <a:cs typeface="Public Sans" pitchFamily="34" charset="-120"/>
              </a:rPr>
              <a:t>ORD</a:t>
            </a:r>
            <a:r>
              <a:rPr lang="en-US" sz="1600" dirty="0">
                <a:solidFill>
                  <a:srgbClr val="14263A"/>
                </a:solidFill>
                <a:latin typeface="Public Sans" pitchFamily="34" charset="0"/>
                <a:ea typeface="Public Sans" pitchFamily="34" charset="-122"/>
                <a:cs typeface="Public Sans" pitchFamily="34" charset="-120"/>
              </a:rPr>
              <a:t> 24,2 min</a:t>
            </a:r>
            <a:endParaRPr lang="en-US" sz="1600" dirty="0"/>
          </a:p>
        </p:txBody>
      </p:sp>
      <p:sp>
        <p:nvSpPr>
          <p:cNvPr id="39" name="Text 37"/>
          <p:cNvSpPr/>
          <p:nvPr/>
        </p:nvSpPr>
        <p:spPr>
          <a:xfrm>
            <a:off x="7263368" y="5120639"/>
            <a:ext cx="3972454"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85A12"/>
                </a:solidFill>
                <a:latin typeface="Public Sans" pitchFamily="34" charset="0"/>
                <a:ea typeface="Public Sans" pitchFamily="34" charset="-122"/>
                <a:cs typeface="Public Sans" pitchFamily="34" charset="-120"/>
              </a:rPr>
              <a:t>Naranja en las barras: ORD, LGA y JFK están en ambas listas.</a:t>
            </a:r>
            <a:endParaRPr lang="en-US" sz="1300" dirty="0"/>
          </a:p>
        </p:txBody>
      </p:sp>
      <p:sp>
        <p:nvSpPr>
          <p:cNvPr id="40" name="Text 38"/>
          <p:cNvSpPr/>
          <p:nvPr/>
        </p:nvSpPr>
        <p:spPr>
          <a:xfrm>
            <a:off x="812800" y="6238239"/>
            <a:ext cx="85026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6"/>
                </a:solidFill>
                <a:latin typeface="Public Sans" pitchFamily="34" charset="0"/>
                <a:ea typeface="Public Sans" pitchFamily="34" charset="-122"/>
                <a:cs typeface="Public Sans" pitchFamily="34" charset="-120"/>
              </a:rPr>
              <a:t>Fuente: BTS On-Time Performance 2023–2025; cálculo propio</a:t>
            </a:r>
            <a:endParaRPr lang="en-US" sz="1200" dirty="0"/>
          </a:p>
        </p:txBody>
      </p:sp>
      <p:sp>
        <p:nvSpPr>
          <p:cNvPr id="41" name="Text 39"/>
          <p:cNvSpPr/>
          <p:nvPr/>
        </p:nvSpPr>
        <p:spPr>
          <a:xfrm>
            <a:off x="10566400" y="6238239"/>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B76"/>
                </a:solidFill>
                <a:latin typeface="Public Sans" pitchFamily="34" charset="0"/>
                <a:ea typeface="Public Sans" pitchFamily="34" charset="-122"/>
                <a:cs typeface="Public Sans" pitchFamily="34"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B85A12"/>
                </a:solidFill>
                <a:latin typeface="Public Sans" pitchFamily="34" charset="0"/>
                <a:ea typeface="Public Sans" pitchFamily="34" charset="-122"/>
                <a:cs typeface="Public Sans" pitchFamily="34" charset="-120"/>
              </a:rPr>
              <a:t>HALLAZGO 2 · CUÁNDO</a:t>
            </a:r>
            <a:endParaRPr lang="en-US" sz="1300" dirty="0"/>
          </a:p>
        </p:txBody>
      </p:sp>
      <p:sp>
        <p:nvSpPr>
          <p:cNvPr id="3" name="Text 1"/>
          <p:cNvSpPr/>
          <p:nvPr>
            <p:ph type="title"/>
          </p:nvPr>
        </p:nvSpPr>
        <p:spPr>
          <a:xfrm>
            <a:off x="812800" y="1170939"/>
            <a:ext cx="10883392" cy="43434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4263A"/>
                </a:solidFill>
                <a:latin typeface="Libre Baskerville" pitchFamily="18" charset="0"/>
                <a:ea typeface="Libre Baskerville" pitchFamily="18" charset="-122"/>
                <a:cs typeface="Libre Baskerville" pitchFamily="18" charset="-120"/>
              </a:rPr>
              <a:t>La mañana de 6 a 8 concentra el CO2 de salida</a:t>
            </a:r>
            <a:endParaRPr lang="en-US" sz="2800" dirty="0"/>
          </a:p>
        </p:txBody>
      </p:sp>
      <p:sp>
        <p:nvSpPr>
          <p:cNvPr id="4" name="Text 2"/>
          <p:cNvSpPr/>
          <p:nvPr/>
        </p:nvSpPr>
        <p:spPr>
          <a:xfrm>
            <a:off x="812800" y="1925321"/>
            <a:ext cx="10883392"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F6B76"/>
                </a:solidFill>
                <a:latin typeface="Public Sans" pitchFamily="34" charset="0"/>
                <a:ea typeface="Public Sans" pitchFamily="34" charset="-122"/>
                <a:cs typeface="Public Sans" pitchFamily="34" charset="-120"/>
              </a:rPr>
              <a:t>Miles de toneladas de CO2 por hora programada de salida (0–23). La hora 8 llega a unas 516.</a:t>
            </a:r>
            <a:endParaRPr lang="en-US" sz="1300" dirty="0"/>
          </a:p>
        </p:txBody>
      </p:sp>
      <p:sp>
        <p:nvSpPr>
          <p:cNvPr id="5" name="Shape 3"/>
          <p:cNvSpPr/>
          <p:nvPr/>
        </p:nvSpPr>
        <p:spPr>
          <a:xfrm>
            <a:off x="812800" y="4994911"/>
            <a:ext cx="10566400" cy="0"/>
          </a:xfrm>
          <a:prstGeom prst="line">
            <a:avLst/>
          </a:prstGeom>
          <a:noFill/>
          <a:ln w="12700">
            <a:solidFill>
              <a:srgbClr val="14263A"/>
            </a:solidFill>
            <a:prstDash val="solid"/>
          </a:ln>
        </p:spPr>
      </p:sp>
      <p:sp>
        <p:nvSpPr>
          <p:cNvPr id="6" name="Shape 4"/>
          <p:cNvSpPr/>
          <p:nvPr/>
        </p:nvSpPr>
        <p:spPr>
          <a:xfrm>
            <a:off x="812800" y="4933950"/>
            <a:ext cx="330200" cy="57150"/>
          </a:xfrm>
          <a:prstGeom prst="rect">
            <a:avLst/>
          </a:prstGeom>
          <a:solidFill>
            <a:srgbClr val="2B4A6B"/>
          </a:solidFill>
          <a:ln/>
        </p:spPr>
      </p:sp>
      <p:sp>
        <p:nvSpPr>
          <p:cNvPr id="7" name="Shape 5"/>
          <p:cNvSpPr/>
          <p:nvPr/>
        </p:nvSpPr>
        <p:spPr>
          <a:xfrm>
            <a:off x="1219200" y="4972050"/>
            <a:ext cx="330200" cy="19050"/>
          </a:xfrm>
          <a:prstGeom prst="rect">
            <a:avLst/>
          </a:prstGeom>
          <a:solidFill>
            <a:srgbClr val="2B4A6B"/>
          </a:solidFill>
          <a:ln/>
        </p:spPr>
      </p:sp>
      <p:sp>
        <p:nvSpPr>
          <p:cNvPr id="8" name="Shape 6"/>
          <p:cNvSpPr/>
          <p:nvPr/>
        </p:nvSpPr>
        <p:spPr>
          <a:xfrm>
            <a:off x="1625600" y="4984750"/>
            <a:ext cx="330200" cy="6350"/>
          </a:xfrm>
          <a:prstGeom prst="rect">
            <a:avLst/>
          </a:prstGeom>
          <a:solidFill>
            <a:srgbClr val="2B4A6B"/>
          </a:solidFill>
          <a:ln/>
        </p:spPr>
      </p:sp>
      <p:sp>
        <p:nvSpPr>
          <p:cNvPr id="9" name="Shape 7"/>
          <p:cNvSpPr/>
          <p:nvPr/>
        </p:nvSpPr>
        <p:spPr>
          <a:xfrm>
            <a:off x="2032000" y="4984750"/>
            <a:ext cx="330200" cy="6350"/>
          </a:xfrm>
          <a:prstGeom prst="rect">
            <a:avLst/>
          </a:prstGeom>
          <a:solidFill>
            <a:srgbClr val="2B4A6B"/>
          </a:solidFill>
          <a:ln/>
        </p:spPr>
      </p:sp>
      <p:sp>
        <p:nvSpPr>
          <p:cNvPr id="10" name="Shape 8"/>
          <p:cNvSpPr/>
          <p:nvPr/>
        </p:nvSpPr>
        <p:spPr>
          <a:xfrm>
            <a:off x="2438400" y="4984750"/>
            <a:ext cx="330200" cy="6350"/>
          </a:xfrm>
          <a:prstGeom prst="rect">
            <a:avLst/>
          </a:prstGeom>
          <a:solidFill>
            <a:srgbClr val="2B4A6B"/>
          </a:solidFill>
          <a:ln/>
        </p:spPr>
      </p:sp>
      <p:sp>
        <p:nvSpPr>
          <p:cNvPr id="11" name="Shape 9"/>
          <p:cNvSpPr/>
          <p:nvPr/>
        </p:nvSpPr>
        <p:spPr>
          <a:xfrm>
            <a:off x="2844800" y="4064000"/>
            <a:ext cx="330200" cy="927100"/>
          </a:xfrm>
          <a:prstGeom prst="rect">
            <a:avLst/>
          </a:prstGeom>
          <a:solidFill>
            <a:srgbClr val="2B4A6B"/>
          </a:solidFill>
          <a:ln/>
        </p:spPr>
      </p:sp>
      <p:sp>
        <p:nvSpPr>
          <p:cNvPr id="12" name="Shape 10"/>
          <p:cNvSpPr/>
          <p:nvPr/>
        </p:nvSpPr>
        <p:spPr>
          <a:xfrm>
            <a:off x="3251200" y="2476500"/>
            <a:ext cx="330200" cy="2514600"/>
          </a:xfrm>
          <a:prstGeom prst="rect">
            <a:avLst/>
          </a:prstGeom>
          <a:solidFill>
            <a:srgbClr val="D9701C"/>
          </a:solidFill>
          <a:ln/>
        </p:spPr>
      </p:sp>
      <p:sp>
        <p:nvSpPr>
          <p:cNvPr id="13" name="Shape 11"/>
          <p:cNvSpPr/>
          <p:nvPr/>
        </p:nvSpPr>
        <p:spPr>
          <a:xfrm>
            <a:off x="3657600" y="2260600"/>
            <a:ext cx="330200" cy="2730500"/>
          </a:xfrm>
          <a:prstGeom prst="rect">
            <a:avLst/>
          </a:prstGeom>
          <a:solidFill>
            <a:srgbClr val="D9701C"/>
          </a:solidFill>
          <a:ln/>
        </p:spPr>
      </p:sp>
      <p:sp>
        <p:nvSpPr>
          <p:cNvPr id="14" name="Shape 12"/>
          <p:cNvSpPr/>
          <p:nvPr/>
        </p:nvSpPr>
        <p:spPr>
          <a:xfrm>
            <a:off x="4064000" y="2197100"/>
            <a:ext cx="330200" cy="2794000"/>
          </a:xfrm>
          <a:prstGeom prst="rect">
            <a:avLst/>
          </a:prstGeom>
          <a:solidFill>
            <a:srgbClr val="D9701C"/>
          </a:solidFill>
          <a:ln/>
        </p:spPr>
      </p:sp>
      <p:sp>
        <p:nvSpPr>
          <p:cNvPr id="15" name="Shape 13"/>
          <p:cNvSpPr/>
          <p:nvPr/>
        </p:nvSpPr>
        <p:spPr>
          <a:xfrm>
            <a:off x="4470400" y="2711450"/>
            <a:ext cx="330200" cy="2279650"/>
          </a:xfrm>
          <a:prstGeom prst="rect">
            <a:avLst/>
          </a:prstGeom>
          <a:solidFill>
            <a:srgbClr val="2B4A6B"/>
          </a:solidFill>
          <a:ln/>
        </p:spPr>
      </p:sp>
      <p:sp>
        <p:nvSpPr>
          <p:cNvPr id="16" name="Shape 14"/>
          <p:cNvSpPr/>
          <p:nvPr/>
        </p:nvSpPr>
        <p:spPr>
          <a:xfrm>
            <a:off x="4876800" y="2578100"/>
            <a:ext cx="330200" cy="2413000"/>
          </a:xfrm>
          <a:prstGeom prst="rect">
            <a:avLst/>
          </a:prstGeom>
          <a:solidFill>
            <a:srgbClr val="2B4A6B"/>
          </a:solidFill>
          <a:ln/>
        </p:spPr>
      </p:sp>
      <p:sp>
        <p:nvSpPr>
          <p:cNvPr id="17" name="Shape 15"/>
          <p:cNvSpPr/>
          <p:nvPr/>
        </p:nvSpPr>
        <p:spPr>
          <a:xfrm>
            <a:off x="5283200" y="2647950"/>
            <a:ext cx="330200" cy="2343150"/>
          </a:xfrm>
          <a:prstGeom prst="rect">
            <a:avLst/>
          </a:prstGeom>
          <a:solidFill>
            <a:srgbClr val="2B4A6B"/>
          </a:solidFill>
          <a:ln/>
        </p:spPr>
      </p:sp>
      <p:sp>
        <p:nvSpPr>
          <p:cNvPr id="18" name="Shape 16"/>
          <p:cNvSpPr/>
          <p:nvPr/>
        </p:nvSpPr>
        <p:spPr>
          <a:xfrm>
            <a:off x="5689600" y="2851150"/>
            <a:ext cx="330200" cy="2139950"/>
          </a:xfrm>
          <a:prstGeom prst="rect">
            <a:avLst/>
          </a:prstGeom>
          <a:solidFill>
            <a:srgbClr val="2B4A6B"/>
          </a:solidFill>
          <a:ln/>
        </p:spPr>
      </p:sp>
      <p:sp>
        <p:nvSpPr>
          <p:cNvPr id="19" name="Shape 17"/>
          <p:cNvSpPr/>
          <p:nvPr/>
        </p:nvSpPr>
        <p:spPr>
          <a:xfrm>
            <a:off x="6096000" y="2794000"/>
            <a:ext cx="330200" cy="2197100"/>
          </a:xfrm>
          <a:prstGeom prst="rect">
            <a:avLst/>
          </a:prstGeom>
          <a:solidFill>
            <a:srgbClr val="2B4A6B"/>
          </a:solidFill>
          <a:ln/>
        </p:spPr>
      </p:sp>
      <p:sp>
        <p:nvSpPr>
          <p:cNvPr id="20" name="Shape 18"/>
          <p:cNvSpPr/>
          <p:nvPr/>
        </p:nvSpPr>
        <p:spPr>
          <a:xfrm>
            <a:off x="6502400" y="2863850"/>
            <a:ext cx="330200" cy="2127250"/>
          </a:xfrm>
          <a:prstGeom prst="rect">
            <a:avLst/>
          </a:prstGeom>
          <a:solidFill>
            <a:srgbClr val="2B4A6B"/>
          </a:solidFill>
          <a:ln/>
        </p:spPr>
      </p:sp>
      <p:sp>
        <p:nvSpPr>
          <p:cNvPr id="21" name="Shape 19"/>
          <p:cNvSpPr/>
          <p:nvPr/>
        </p:nvSpPr>
        <p:spPr>
          <a:xfrm>
            <a:off x="6908800" y="2832100"/>
            <a:ext cx="330200" cy="2159000"/>
          </a:xfrm>
          <a:prstGeom prst="rect">
            <a:avLst/>
          </a:prstGeom>
          <a:solidFill>
            <a:srgbClr val="2B4A6B"/>
          </a:solidFill>
          <a:ln/>
        </p:spPr>
      </p:sp>
      <p:sp>
        <p:nvSpPr>
          <p:cNvPr id="22" name="Shape 20"/>
          <p:cNvSpPr/>
          <p:nvPr/>
        </p:nvSpPr>
        <p:spPr>
          <a:xfrm>
            <a:off x="7315200" y="2806700"/>
            <a:ext cx="330200" cy="2184400"/>
          </a:xfrm>
          <a:prstGeom prst="rect">
            <a:avLst/>
          </a:prstGeom>
          <a:solidFill>
            <a:srgbClr val="2B4A6B"/>
          </a:solidFill>
          <a:ln/>
        </p:spPr>
      </p:sp>
      <p:sp>
        <p:nvSpPr>
          <p:cNvPr id="23" name="Shape 21"/>
          <p:cNvSpPr/>
          <p:nvPr/>
        </p:nvSpPr>
        <p:spPr>
          <a:xfrm>
            <a:off x="7721600" y="2559050"/>
            <a:ext cx="330200" cy="2432050"/>
          </a:xfrm>
          <a:prstGeom prst="rect">
            <a:avLst/>
          </a:prstGeom>
          <a:solidFill>
            <a:srgbClr val="2B4A6B"/>
          </a:solidFill>
          <a:ln/>
        </p:spPr>
      </p:sp>
      <p:sp>
        <p:nvSpPr>
          <p:cNvPr id="24" name="Shape 22"/>
          <p:cNvSpPr/>
          <p:nvPr/>
        </p:nvSpPr>
        <p:spPr>
          <a:xfrm>
            <a:off x="8128000" y="2584450"/>
            <a:ext cx="330200" cy="2406650"/>
          </a:xfrm>
          <a:prstGeom prst="rect">
            <a:avLst/>
          </a:prstGeom>
          <a:solidFill>
            <a:srgbClr val="2B4A6B"/>
          </a:solidFill>
          <a:ln/>
        </p:spPr>
      </p:sp>
      <p:sp>
        <p:nvSpPr>
          <p:cNvPr id="25" name="Shape 23"/>
          <p:cNvSpPr/>
          <p:nvPr/>
        </p:nvSpPr>
        <p:spPr>
          <a:xfrm>
            <a:off x="8534400" y="2851150"/>
            <a:ext cx="330200" cy="2139950"/>
          </a:xfrm>
          <a:prstGeom prst="rect">
            <a:avLst/>
          </a:prstGeom>
          <a:solidFill>
            <a:srgbClr val="2B4A6B"/>
          </a:solidFill>
          <a:ln/>
        </p:spPr>
      </p:sp>
      <p:sp>
        <p:nvSpPr>
          <p:cNvPr id="26" name="Shape 24"/>
          <p:cNvSpPr/>
          <p:nvPr/>
        </p:nvSpPr>
        <p:spPr>
          <a:xfrm>
            <a:off x="8940800" y="3232150"/>
            <a:ext cx="330200" cy="1758950"/>
          </a:xfrm>
          <a:prstGeom prst="rect">
            <a:avLst/>
          </a:prstGeom>
          <a:solidFill>
            <a:srgbClr val="2B4A6B"/>
          </a:solidFill>
          <a:ln/>
        </p:spPr>
      </p:sp>
      <p:sp>
        <p:nvSpPr>
          <p:cNvPr id="27" name="Shape 25"/>
          <p:cNvSpPr/>
          <p:nvPr/>
        </p:nvSpPr>
        <p:spPr>
          <a:xfrm>
            <a:off x="9347200" y="3702050"/>
            <a:ext cx="330200" cy="1289050"/>
          </a:xfrm>
          <a:prstGeom prst="rect">
            <a:avLst/>
          </a:prstGeom>
          <a:solidFill>
            <a:srgbClr val="2B4A6B"/>
          </a:solidFill>
          <a:ln/>
        </p:spPr>
      </p:sp>
      <p:sp>
        <p:nvSpPr>
          <p:cNvPr id="28" name="Shape 26"/>
          <p:cNvSpPr/>
          <p:nvPr/>
        </p:nvSpPr>
        <p:spPr>
          <a:xfrm>
            <a:off x="9753600" y="4108450"/>
            <a:ext cx="330200" cy="882650"/>
          </a:xfrm>
          <a:prstGeom prst="rect">
            <a:avLst/>
          </a:prstGeom>
          <a:solidFill>
            <a:srgbClr val="2B4A6B"/>
          </a:solidFill>
          <a:ln/>
        </p:spPr>
      </p:sp>
      <p:sp>
        <p:nvSpPr>
          <p:cNvPr id="29" name="Shape 27"/>
          <p:cNvSpPr/>
          <p:nvPr/>
        </p:nvSpPr>
        <p:spPr>
          <a:xfrm>
            <a:off x="10160000" y="4679950"/>
            <a:ext cx="330200" cy="311150"/>
          </a:xfrm>
          <a:prstGeom prst="rect">
            <a:avLst/>
          </a:prstGeom>
          <a:solidFill>
            <a:srgbClr val="2B4A6B"/>
          </a:solidFill>
          <a:ln/>
        </p:spPr>
      </p:sp>
      <p:sp>
        <p:nvSpPr>
          <p:cNvPr id="30" name="Text 28"/>
          <p:cNvSpPr/>
          <p:nvPr/>
        </p:nvSpPr>
        <p:spPr>
          <a:xfrm>
            <a:off x="787400" y="5052064"/>
            <a:ext cx="38100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4263A"/>
                </a:solidFill>
                <a:latin typeface="Public Sans" pitchFamily="34" charset="0"/>
                <a:ea typeface="Public Sans" pitchFamily="34" charset="-122"/>
                <a:cs typeface="Public Sans" pitchFamily="34" charset="-120"/>
              </a:rPr>
              <a:t>0</a:t>
            </a:r>
            <a:endParaRPr lang="en-US" sz="1200" dirty="0"/>
          </a:p>
        </p:txBody>
      </p:sp>
      <p:sp>
        <p:nvSpPr>
          <p:cNvPr id="31" name="Text 29"/>
          <p:cNvSpPr/>
          <p:nvPr/>
        </p:nvSpPr>
        <p:spPr>
          <a:xfrm>
            <a:off x="1193800" y="5052064"/>
            <a:ext cx="38100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4263A"/>
                </a:solidFill>
                <a:latin typeface="Public Sans" pitchFamily="34" charset="0"/>
                <a:ea typeface="Public Sans" pitchFamily="34" charset="-122"/>
                <a:cs typeface="Public Sans" pitchFamily="34" charset="-120"/>
              </a:rPr>
              <a:t>1</a:t>
            </a:r>
            <a:endParaRPr lang="en-US" sz="1200" dirty="0"/>
          </a:p>
        </p:txBody>
      </p:sp>
      <p:sp>
        <p:nvSpPr>
          <p:cNvPr id="32" name="Text 30"/>
          <p:cNvSpPr/>
          <p:nvPr/>
        </p:nvSpPr>
        <p:spPr>
          <a:xfrm>
            <a:off x="1600200" y="5052064"/>
            <a:ext cx="38100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4263A"/>
                </a:solidFill>
                <a:latin typeface="Public Sans" pitchFamily="34" charset="0"/>
                <a:ea typeface="Public Sans" pitchFamily="34" charset="-122"/>
                <a:cs typeface="Public Sans" pitchFamily="34" charset="-120"/>
              </a:rPr>
              <a:t>2</a:t>
            </a:r>
            <a:endParaRPr lang="en-US" sz="1200" dirty="0"/>
          </a:p>
        </p:txBody>
      </p:sp>
      <p:sp>
        <p:nvSpPr>
          <p:cNvPr id="33" name="Text 31"/>
          <p:cNvSpPr/>
          <p:nvPr/>
        </p:nvSpPr>
        <p:spPr>
          <a:xfrm>
            <a:off x="2006600" y="5052064"/>
            <a:ext cx="38100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4263A"/>
                </a:solidFill>
                <a:latin typeface="Public Sans" pitchFamily="34" charset="0"/>
                <a:ea typeface="Public Sans" pitchFamily="34" charset="-122"/>
                <a:cs typeface="Public Sans" pitchFamily="34" charset="-120"/>
              </a:rPr>
              <a:t>3</a:t>
            </a:r>
            <a:endParaRPr lang="en-US" sz="1200" dirty="0"/>
          </a:p>
        </p:txBody>
      </p:sp>
      <p:sp>
        <p:nvSpPr>
          <p:cNvPr id="34" name="Text 32"/>
          <p:cNvSpPr/>
          <p:nvPr/>
        </p:nvSpPr>
        <p:spPr>
          <a:xfrm>
            <a:off x="2413000" y="5052064"/>
            <a:ext cx="38100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4263A"/>
                </a:solidFill>
                <a:latin typeface="Public Sans" pitchFamily="34" charset="0"/>
                <a:ea typeface="Public Sans" pitchFamily="34" charset="-122"/>
                <a:cs typeface="Public Sans" pitchFamily="34" charset="-120"/>
              </a:rPr>
              <a:t>4</a:t>
            </a:r>
            <a:endParaRPr lang="en-US" sz="1200" dirty="0"/>
          </a:p>
        </p:txBody>
      </p:sp>
      <p:sp>
        <p:nvSpPr>
          <p:cNvPr id="35" name="Text 33"/>
          <p:cNvSpPr/>
          <p:nvPr/>
        </p:nvSpPr>
        <p:spPr>
          <a:xfrm>
            <a:off x="2819400" y="5052064"/>
            <a:ext cx="38100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4263A"/>
                </a:solidFill>
                <a:latin typeface="Public Sans" pitchFamily="34" charset="0"/>
                <a:ea typeface="Public Sans" pitchFamily="34" charset="-122"/>
                <a:cs typeface="Public Sans" pitchFamily="34" charset="-120"/>
              </a:rPr>
              <a:t>5</a:t>
            </a:r>
            <a:endParaRPr lang="en-US" sz="1200" dirty="0"/>
          </a:p>
        </p:txBody>
      </p:sp>
      <p:sp>
        <p:nvSpPr>
          <p:cNvPr id="36" name="Text 34"/>
          <p:cNvSpPr/>
          <p:nvPr/>
        </p:nvSpPr>
        <p:spPr>
          <a:xfrm>
            <a:off x="3225800" y="5052064"/>
            <a:ext cx="381000"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B85A12"/>
                </a:solidFill>
                <a:latin typeface="Public Sans" pitchFamily="34" charset="0"/>
                <a:ea typeface="Public Sans" pitchFamily="34" charset="-122"/>
                <a:cs typeface="Public Sans" pitchFamily="34" charset="-120"/>
              </a:rPr>
              <a:t>6</a:t>
            </a:r>
            <a:endParaRPr lang="en-US" sz="1200" dirty="0"/>
          </a:p>
        </p:txBody>
      </p:sp>
      <p:sp>
        <p:nvSpPr>
          <p:cNvPr id="37" name="Text 35"/>
          <p:cNvSpPr/>
          <p:nvPr/>
        </p:nvSpPr>
        <p:spPr>
          <a:xfrm>
            <a:off x="3632200" y="5052064"/>
            <a:ext cx="381000"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B85A12"/>
                </a:solidFill>
                <a:latin typeface="Public Sans" pitchFamily="34" charset="0"/>
                <a:ea typeface="Public Sans" pitchFamily="34" charset="-122"/>
                <a:cs typeface="Public Sans" pitchFamily="34" charset="-120"/>
              </a:rPr>
              <a:t>7</a:t>
            </a:r>
            <a:endParaRPr lang="en-US" sz="1200" dirty="0"/>
          </a:p>
        </p:txBody>
      </p:sp>
      <p:sp>
        <p:nvSpPr>
          <p:cNvPr id="38" name="Text 36"/>
          <p:cNvSpPr/>
          <p:nvPr/>
        </p:nvSpPr>
        <p:spPr>
          <a:xfrm>
            <a:off x="4038600" y="5052064"/>
            <a:ext cx="381000"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B85A12"/>
                </a:solidFill>
                <a:latin typeface="Public Sans" pitchFamily="34" charset="0"/>
                <a:ea typeface="Public Sans" pitchFamily="34" charset="-122"/>
                <a:cs typeface="Public Sans" pitchFamily="34" charset="-120"/>
              </a:rPr>
              <a:t>8</a:t>
            </a:r>
            <a:endParaRPr lang="en-US" sz="1200" dirty="0"/>
          </a:p>
        </p:txBody>
      </p:sp>
      <p:sp>
        <p:nvSpPr>
          <p:cNvPr id="39" name="Text 37"/>
          <p:cNvSpPr/>
          <p:nvPr/>
        </p:nvSpPr>
        <p:spPr>
          <a:xfrm>
            <a:off x="4445000" y="5052064"/>
            <a:ext cx="38100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4263A"/>
                </a:solidFill>
                <a:latin typeface="Public Sans" pitchFamily="34" charset="0"/>
                <a:ea typeface="Public Sans" pitchFamily="34" charset="-122"/>
                <a:cs typeface="Public Sans" pitchFamily="34" charset="-120"/>
              </a:rPr>
              <a:t>9</a:t>
            </a:r>
            <a:endParaRPr lang="en-US" sz="1200" dirty="0"/>
          </a:p>
        </p:txBody>
      </p:sp>
      <p:sp>
        <p:nvSpPr>
          <p:cNvPr id="40" name="Text 38"/>
          <p:cNvSpPr/>
          <p:nvPr/>
        </p:nvSpPr>
        <p:spPr>
          <a:xfrm>
            <a:off x="4851400" y="5052064"/>
            <a:ext cx="38100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4263A"/>
                </a:solidFill>
                <a:latin typeface="Public Sans" pitchFamily="34" charset="0"/>
                <a:ea typeface="Public Sans" pitchFamily="34" charset="-122"/>
                <a:cs typeface="Public Sans" pitchFamily="34" charset="-120"/>
              </a:rPr>
              <a:t>10</a:t>
            </a:r>
            <a:endParaRPr lang="en-US" sz="1200" dirty="0"/>
          </a:p>
        </p:txBody>
      </p:sp>
      <p:sp>
        <p:nvSpPr>
          <p:cNvPr id="41" name="Text 39"/>
          <p:cNvSpPr/>
          <p:nvPr/>
        </p:nvSpPr>
        <p:spPr>
          <a:xfrm>
            <a:off x="5257800" y="5052064"/>
            <a:ext cx="38100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4263A"/>
                </a:solidFill>
                <a:latin typeface="Public Sans" pitchFamily="34" charset="0"/>
                <a:ea typeface="Public Sans" pitchFamily="34" charset="-122"/>
                <a:cs typeface="Public Sans" pitchFamily="34" charset="-120"/>
              </a:rPr>
              <a:t>11</a:t>
            </a:r>
            <a:endParaRPr lang="en-US" sz="1200" dirty="0"/>
          </a:p>
        </p:txBody>
      </p:sp>
      <p:sp>
        <p:nvSpPr>
          <p:cNvPr id="42" name="Text 40"/>
          <p:cNvSpPr/>
          <p:nvPr/>
        </p:nvSpPr>
        <p:spPr>
          <a:xfrm>
            <a:off x="5664200" y="5052064"/>
            <a:ext cx="38100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4263A"/>
                </a:solidFill>
                <a:latin typeface="Public Sans" pitchFamily="34" charset="0"/>
                <a:ea typeface="Public Sans" pitchFamily="34" charset="-122"/>
                <a:cs typeface="Public Sans" pitchFamily="34" charset="-120"/>
              </a:rPr>
              <a:t>12</a:t>
            </a:r>
            <a:endParaRPr lang="en-US" sz="1200" dirty="0"/>
          </a:p>
        </p:txBody>
      </p:sp>
      <p:sp>
        <p:nvSpPr>
          <p:cNvPr id="43" name="Text 41"/>
          <p:cNvSpPr/>
          <p:nvPr/>
        </p:nvSpPr>
        <p:spPr>
          <a:xfrm>
            <a:off x="6070600" y="5052064"/>
            <a:ext cx="38100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4263A"/>
                </a:solidFill>
                <a:latin typeface="Public Sans" pitchFamily="34" charset="0"/>
                <a:ea typeface="Public Sans" pitchFamily="34" charset="-122"/>
                <a:cs typeface="Public Sans" pitchFamily="34" charset="-120"/>
              </a:rPr>
              <a:t>13</a:t>
            </a:r>
            <a:endParaRPr lang="en-US" sz="1200" dirty="0"/>
          </a:p>
        </p:txBody>
      </p:sp>
      <p:sp>
        <p:nvSpPr>
          <p:cNvPr id="44" name="Text 42"/>
          <p:cNvSpPr/>
          <p:nvPr/>
        </p:nvSpPr>
        <p:spPr>
          <a:xfrm>
            <a:off x="6477000" y="5052064"/>
            <a:ext cx="38100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4263A"/>
                </a:solidFill>
                <a:latin typeface="Public Sans" pitchFamily="34" charset="0"/>
                <a:ea typeface="Public Sans" pitchFamily="34" charset="-122"/>
                <a:cs typeface="Public Sans" pitchFamily="34" charset="-120"/>
              </a:rPr>
              <a:t>14</a:t>
            </a:r>
            <a:endParaRPr lang="en-US" sz="1200" dirty="0"/>
          </a:p>
        </p:txBody>
      </p:sp>
      <p:sp>
        <p:nvSpPr>
          <p:cNvPr id="45" name="Text 43"/>
          <p:cNvSpPr/>
          <p:nvPr/>
        </p:nvSpPr>
        <p:spPr>
          <a:xfrm>
            <a:off x="6883400" y="5052064"/>
            <a:ext cx="38100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4263A"/>
                </a:solidFill>
                <a:latin typeface="Public Sans" pitchFamily="34" charset="0"/>
                <a:ea typeface="Public Sans" pitchFamily="34" charset="-122"/>
                <a:cs typeface="Public Sans" pitchFamily="34" charset="-120"/>
              </a:rPr>
              <a:t>15</a:t>
            </a:r>
            <a:endParaRPr lang="en-US" sz="1200" dirty="0"/>
          </a:p>
        </p:txBody>
      </p:sp>
      <p:sp>
        <p:nvSpPr>
          <p:cNvPr id="46" name="Text 44"/>
          <p:cNvSpPr/>
          <p:nvPr/>
        </p:nvSpPr>
        <p:spPr>
          <a:xfrm>
            <a:off x="7289800" y="5052064"/>
            <a:ext cx="38100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4263A"/>
                </a:solidFill>
                <a:latin typeface="Public Sans" pitchFamily="34" charset="0"/>
                <a:ea typeface="Public Sans" pitchFamily="34" charset="-122"/>
                <a:cs typeface="Public Sans" pitchFamily="34" charset="-120"/>
              </a:rPr>
              <a:t>16</a:t>
            </a:r>
            <a:endParaRPr lang="en-US" sz="1200" dirty="0"/>
          </a:p>
        </p:txBody>
      </p:sp>
      <p:sp>
        <p:nvSpPr>
          <p:cNvPr id="47" name="Text 45"/>
          <p:cNvSpPr/>
          <p:nvPr/>
        </p:nvSpPr>
        <p:spPr>
          <a:xfrm>
            <a:off x="7696200" y="5052064"/>
            <a:ext cx="38100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4263A"/>
                </a:solidFill>
                <a:latin typeface="Public Sans" pitchFamily="34" charset="0"/>
                <a:ea typeface="Public Sans" pitchFamily="34" charset="-122"/>
                <a:cs typeface="Public Sans" pitchFamily="34" charset="-120"/>
              </a:rPr>
              <a:t>17</a:t>
            </a:r>
            <a:endParaRPr lang="en-US" sz="1200" dirty="0"/>
          </a:p>
        </p:txBody>
      </p:sp>
      <p:sp>
        <p:nvSpPr>
          <p:cNvPr id="48" name="Text 46"/>
          <p:cNvSpPr/>
          <p:nvPr/>
        </p:nvSpPr>
        <p:spPr>
          <a:xfrm>
            <a:off x="8102600" y="5052064"/>
            <a:ext cx="38100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4263A"/>
                </a:solidFill>
                <a:latin typeface="Public Sans" pitchFamily="34" charset="0"/>
                <a:ea typeface="Public Sans" pitchFamily="34" charset="-122"/>
                <a:cs typeface="Public Sans" pitchFamily="34" charset="-120"/>
              </a:rPr>
              <a:t>18</a:t>
            </a:r>
            <a:endParaRPr lang="en-US" sz="1200" dirty="0"/>
          </a:p>
        </p:txBody>
      </p:sp>
      <p:sp>
        <p:nvSpPr>
          <p:cNvPr id="49" name="Text 47"/>
          <p:cNvSpPr/>
          <p:nvPr/>
        </p:nvSpPr>
        <p:spPr>
          <a:xfrm>
            <a:off x="8509000" y="5052064"/>
            <a:ext cx="38100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4263A"/>
                </a:solidFill>
                <a:latin typeface="Public Sans" pitchFamily="34" charset="0"/>
                <a:ea typeface="Public Sans" pitchFamily="34" charset="-122"/>
                <a:cs typeface="Public Sans" pitchFamily="34" charset="-120"/>
              </a:rPr>
              <a:t>19</a:t>
            </a:r>
            <a:endParaRPr lang="en-US" sz="1200" dirty="0"/>
          </a:p>
        </p:txBody>
      </p:sp>
      <p:sp>
        <p:nvSpPr>
          <p:cNvPr id="50" name="Text 48"/>
          <p:cNvSpPr/>
          <p:nvPr/>
        </p:nvSpPr>
        <p:spPr>
          <a:xfrm>
            <a:off x="8915400" y="5052064"/>
            <a:ext cx="38100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4263A"/>
                </a:solidFill>
                <a:latin typeface="Public Sans" pitchFamily="34" charset="0"/>
                <a:ea typeface="Public Sans" pitchFamily="34" charset="-122"/>
                <a:cs typeface="Public Sans" pitchFamily="34" charset="-120"/>
              </a:rPr>
              <a:t>20</a:t>
            </a:r>
            <a:endParaRPr lang="en-US" sz="1200" dirty="0"/>
          </a:p>
        </p:txBody>
      </p:sp>
      <p:sp>
        <p:nvSpPr>
          <p:cNvPr id="51" name="Text 49"/>
          <p:cNvSpPr/>
          <p:nvPr/>
        </p:nvSpPr>
        <p:spPr>
          <a:xfrm>
            <a:off x="9321800" y="5052064"/>
            <a:ext cx="38100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4263A"/>
                </a:solidFill>
                <a:latin typeface="Public Sans" pitchFamily="34" charset="0"/>
                <a:ea typeface="Public Sans" pitchFamily="34" charset="-122"/>
                <a:cs typeface="Public Sans" pitchFamily="34" charset="-120"/>
              </a:rPr>
              <a:t>21</a:t>
            </a:r>
            <a:endParaRPr lang="en-US" sz="1200" dirty="0"/>
          </a:p>
        </p:txBody>
      </p:sp>
      <p:sp>
        <p:nvSpPr>
          <p:cNvPr id="52" name="Text 50"/>
          <p:cNvSpPr/>
          <p:nvPr/>
        </p:nvSpPr>
        <p:spPr>
          <a:xfrm>
            <a:off x="9728200" y="5052064"/>
            <a:ext cx="38100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4263A"/>
                </a:solidFill>
                <a:latin typeface="Public Sans" pitchFamily="34" charset="0"/>
                <a:ea typeface="Public Sans" pitchFamily="34" charset="-122"/>
                <a:cs typeface="Public Sans" pitchFamily="34" charset="-120"/>
              </a:rPr>
              <a:t>22</a:t>
            </a:r>
            <a:endParaRPr lang="en-US" sz="1200" dirty="0"/>
          </a:p>
        </p:txBody>
      </p:sp>
      <p:sp>
        <p:nvSpPr>
          <p:cNvPr id="53" name="Text 51"/>
          <p:cNvSpPr/>
          <p:nvPr/>
        </p:nvSpPr>
        <p:spPr>
          <a:xfrm>
            <a:off x="10134600" y="5052064"/>
            <a:ext cx="38100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4263A"/>
                </a:solidFill>
                <a:latin typeface="Public Sans" pitchFamily="34" charset="0"/>
                <a:ea typeface="Public Sans" pitchFamily="34" charset="-122"/>
                <a:cs typeface="Public Sans" pitchFamily="34" charset="-120"/>
              </a:rPr>
              <a:t>23</a:t>
            </a:r>
            <a:endParaRPr lang="en-US" sz="1200" dirty="0"/>
          </a:p>
        </p:txBody>
      </p:sp>
      <p:sp>
        <p:nvSpPr>
          <p:cNvPr id="54" name="Text 52"/>
          <p:cNvSpPr/>
          <p:nvPr/>
        </p:nvSpPr>
        <p:spPr>
          <a:xfrm>
            <a:off x="812800" y="5610864"/>
            <a:ext cx="10883392"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D4A57"/>
                </a:solidFill>
                <a:latin typeface="Public Sans" pitchFamily="34" charset="0"/>
                <a:ea typeface="Public Sans" pitchFamily="34" charset="-122"/>
                <a:cs typeface="Public Sans" pitchFamily="34" charset="-120"/>
              </a:rPr>
              <a:t>Corregimos un error de redondeo: el supuesto “hora 24” no existe; la hora se calcula con división entera.</a:t>
            </a:r>
            <a:endParaRPr lang="en-US" sz="1300" dirty="0"/>
          </a:p>
        </p:txBody>
      </p:sp>
      <p:sp>
        <p:nvSpPr>
          <p:cNvPr id="55" name="Text 53"/>
          <p:cNvSpPr/>
          <p:nvPr/>
        </p:nvSpPr>
        <p:spPr>
          <a:xfrm>
            <a:off x="812800" y="6238242"/>
            <a:ext cx="85026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6"/>
                </a:solidFill>
                <a:latin typeface="Public Sans" pitchFamily="34" charset="0"/>
                <a:ea typeface="Public Sans" pitchFamily="34" charset="-122"/>
                <a:cs typeface="Public Sans" pitchFamily="34" charset="-120"/>
              </a:rPr>
              <a:t>Fuente: BTS On-Time Performance 2023–2025; escenario bajo, 6 kg/min</a:t>
            </a:r>
            <a:endParaRPr lang="en-US" sz="1200" dirty="0"/>
          </a:p>
        </p:txBody>
      </p:sp>
      <p:sp>
        <p:nvSpPr>
          <p:cNvPr id="56" name="Text 54"/>
          <p:cNvSpPr/>
          <p:nvPr/>
        </p:nvSpPr>
        <p:spPr>
          <a:xfrm>
            <a:off x="10566400" y="6238242"/>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B76"/>
                </a:solidFill>
                <a:latin typeface="Public Sans" pitchFamily="34" charset="0"/>
                <a:ea typeface="Public Sans" pitchFamily="34" charset="-122"/>
                <a:cs typeface="Public Sans" pitchFamily="34" charset="-12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B85A12"/>
                </a:solidFill>
                <a:latin typeface="Public Sans" pitchFamily="34" charset="0"/>
                <a:ea typeface="Public Sans" pitchFamily="34" charset="-122"/>
                <a:cs typeface="Public Sans" pitchFamily="34" charset="-120"/>
              </a:rPr>
              <a:t>HALLAZGO 3 · CUÁNTO CAMBIA</a:t>
            </a:r>
            <a:endParaRPr lang="en-US" sz="1300" dirty="0"/>
          </a:p>
        </p:txBody>
      </p:sp>
      <p:sp>
        <p:nvSpPr>
          <p:cNvPr id="3" name="Text 1"/>
          <p:cNvSpPr/>
          <p:nvPr>
            <p:ph type="title"/>
          </p:nvPr>
        </p:nvSpPr>
        <p:spPr>
          <a:xfrm>
            <a:off x="812800" y="1196342"/>
            <a:ext cx="10883392" cy="84328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4263A"/>
                </a:solidFill>
                <a:latin typeface="Libre Baskerville" pitchFamily="18" charset="0"/>
                <a:ea typeface="Libre Baskerville" pitchFamily="18" charset="-122"/>
                <a:cs typeface="Libre Baskerville" pitchFamily="18" charset="-120"/>
              </a:rPr>
              <a:t>Cada vuelo pasa más tiempo en tierra, sobre todo con mal clima</a:t>
            </a:r>
            <a:endParaRPr lang="en-US" sz="2800" dirty="0"/>
          </a:p>
        </p:txBody>
      </p:sp>
      <p:sp>
        <p:nvSpPr>
          <p:cNvPr id="4" name="Shape 2"/>
          <p:cNvSpPr/>
          <p:nvPr/>
        </p:nvSpPr>
        <p:spPr>
          <a:xfrm>
            <a:off x="815975" y="2820039"/>
            <a:ext cx="4455239" cy="1517650"/>
          </a:xfrm>
          <a:prstGeom prst="roundRect">
            <a:avLst>
              <a:gd name="adj" fmla="val 6485"/>
            </a:avLst>
          </a:prstGeom>
          <a:solidFill>
            <a:srgbClr val="FCFBF7"/>
          </a:solidFill>
          <a:ln w="6350">
            <a:solidFill>
              <a:srgbClr val="DDD8C8"/>
            </a:solidFill>
            <a:prstDash val="solid"/>
          </a:ln>
        </p:spPr>
      </p:sp>
      <p:sp>
        <p:nvSpPr>
          <p:cNvPr id="5" name="Text 3"/>
          <p:cNvSpPr/>
          <p:nvPr/>
        </p:nvSpPr>
        <p:spPr>
          <a:xfrm>
            <a:off x="1071880" y="3025142"/>
            <a:ext cx="4061732" cy="584200"/>
          </a:xfrm>
          <a:prstGeom prst="rect">
            <a:avLst/>
          </a:prstGeom>
          <a:noFill/>
          <a:ln/>
        </p:spPr>
        <p:txBody>
          <a:bodyPr wrap="square" lIns="0" tIns="0" rIns="0" bIns="0" rtlCol="0" anchor="t">
            <a:normAutofit/>
          </a:bodyPr>
          <a:lstStyle/>
          <a:p>
            <a:pPr algn="l" indent="0" marL="0">
              <a:lnSpc>
                <a:spcPts val="4400"/>
              </a:lnSpc>
              <a:buNone/>
            </a:pPr>
            <a:r>
              <a:rPr lang="en-US" sz="4000" b="1" dirty="0">
                <a:solidFill>
                  <a:srgbClr val="B85A12"/>
                </a:solidFill>
                <a:latin typeface="Libre Baskerville" pitchFamily="18" charset="0"/>
                <a:ea typeface="Libre Baskerville" pitchFamily="18" charset="-122"/>
                <a:cs typeface="Libre Baskerville" pitchFamily="18" charset="-120"/>
              </a:rPr>
              <a:t>+9,0 %</a:t>
            </a:r>
            <a:endParaRPr lang="en-US" sz="4000" dirty="0"/>
          </a:p>
        </p:txBody>
      </p:sp>
      <p:sp>
        <p:nvSpPr>
          <p:cNvPr id="6" name="Text 4"/>
          <p:cNvSpPr/>
          <p:nvPr/>
        </p:nvSpPr>
        <p:spPr>
          <a:xfrm>
            <a:off x="1071880" y="3634742"/>
            <a:ext cx="4061732"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A57"/>
                </a:solidFill>
                <a:latin typeface="Public Sans" pitchFamily="34" charset="0"/>
                <a:ea typeface="Public Sans" pitchFamily="34" charset="-122"/>
                <a:cs typeface="Public Sans" pitchFamily="34" charset="-120"/>
              </a:rPr>
              <a:t>horas de rodaje de 2023 a 2025 (2,87 M a 3,13 M horas)</a:t>
            </a:r>
            <a:endParaRPr lang="en-US" sz="1400" dirty="0"/>
          </a:p>
        </p:txBody>
      </p:sp>
      <p:sp>
        <p:nvSpPr>
          <p:cNvPr id="7" name="Shape 5"/>
          <p:cNvSpPr/>
          <p:nvPr/>
        </p:nvSpPr>
        <p:spPr>
          <a:xfrm>
            <a:off x="815975" y="4496439"/>
            <a:ext cx="4455239" cy="1268730"/>
          </a:xfrm>
          <a:prstGeom prst="roundRect">
            <a:avLst>
              <a:gd name="adj" fmla="val 7758"/>
            </a:avLst>
          </a:prstGeom>
          <a:solidFill>
            <a:srgbClr val="FCFBF7"/>
          </a:solidFill>
          <a:ln w="6350">
            <a:solidFill>
              <a:srgbClr val="DDD8C8"/>
            </a:solidFill>
            <a:prstDash val="solid"/>
          </a:ln>
        </p:spPr>
      </p:sp>
      <p:sp>
        <p:nvSpPr>
          <p:cNvPr id="8" name="Text 6"/>
          <p:cNvSpPr/>
          <p:nvPr/>
        </p:nvSpPr>
        <p:spPr>
          <a:xfrm>
            <a:off x="1071880" y="4701542"/>
            <a:ext cx="4061732" cy="584200"/>
          </a:xfrm>
          <a:prstGeom prst="rect">
            <a:avLst/>
          </a:prstGeom>
          <a:noFill/>
          <a:ln/>
        </p:spPr>
        <p:txBody>
          <a:bodyPr wrap="square" lIns="0" tIns="0" rIns="0" bIns="0" rtlCol="0" anchor="t">
            <a:normAutofit/>
          </a:bodyPr>
          <a:lstStyle/>
          <a:p>
            <a:pPr algn="l" indent="0" marL="0">
              <a:lnSpc>
                <a:spcPts val="4400"/>
              </a:lnSpc>
              <a:buNone/>
            </a:pPr>
            <a:r>
              <a:rPr lang="en-US" sz="4000" b="1" dirty="0">
                <a:solidFill>
                  <a:srgbClr val="2B4A6B"/>
                </a:solidFill>
                <a:latin typeface="Libre Baskerville" pitchFamily="18" charset="0"/>
                <a:ea typeface="Libre Baskerville" pitchFamily="18" charset="-122"/>
                <a:cs typeface="Libre Baskerville" pitchFamily="18" charset="-120"/>
              </a:rPr>
              <a:t>+2 %</a:t>
            </a:r>
            <a:endParaRPr lang="en-US" sz="4000" dirty="0"/>
          </a:p>
        </p:txBody>
      </p:sp>
      <p:sp>
        <p:nvSpPr>
          <p:cNvPr id="9" name="Text 7"/>
          <p:cNvSpPr/>
          <p:nvPr/>
        </p:nvSpPr>
        <p:spPr>
          <a:xfrm>
            <a:off x="1071880" y="5311142"/>
            <a:ext cx="406173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D4A57"/>
                </a:solidFill>
                <a:latin typeface="Public Sans" pitchFamily="34" charset="0"/>
                <a:ea typeface="Public Sans" pitchFamily="34" charset="-122"/>
                <a:cs typeface="Public Sans" pitchFamily="34" charset="-120"/>
              </a:rPr>
              <a:t>vuelos válidos en el mismo periodo</a:t>
            </a:r>
            <a:endParaRPr lang="en-US" sz="1400" dirty="0"/>
          </a:p>
        </p:txBody>
      </p:sp>
      <p:sp>
        <p:nvSpPr>
          <p:cNvPr id="10" name="Text 8"/>
          <p:cNvSpPr/>
          <p:nvPr/>
        </p:nvSpPr>
        <p:spPr>
          <a:xfrm>
            <a:off x="5579189" y="2816864"/>
            <a:ext cx="5974011"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63A"/>
                </a:solidFill>
                <a:latin typeface="Public Sans" pitchFamily="34" charset="0"/>
                <a:ea typeface="Public Sans" pitchFamily="34" charset="-122"/>
                <a:cs typeface="Public Sans" pitchFamily="34" charset="-120"/>
              </a:rPr>
              <a:t>Minutos promedio de rodaje de salida</a:t>
            </a:r>
            <a:endParaRPr lang="en-US" sz="15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589349" y="3220724"/>
          <a:ext cx="5789851" cy="2032000"/>
        </p:xfrm>
        <a:graphic>
          <a:graphicData uri="http://schemas.openxmlformats.org/drawingml/2006/table">
            <a:tbl>
              <a:tblPr/>
              <a:tblGrid>
                <a:gridCol w="2200143"/>
                <a:gridCol w="984275"/>
                <a:gridCol w="984275"/>
                <a:gridCol w="1621158"/>
              </a:tblGrid>
              <a:tr h="383540">
                <a:tc>
                  <a:txBody>
                    <a:bodyPr/>
                    <a:lstStyle/>
                    <a:p>
                      <a:pPr indent="0" marL="0">
                        <a:lnSpc>
                          <a:spcPts val="1960"/>
                        </a:lnSpc>
                        <a:buNone/>
                      </a:pPr>
                      <a:r>
                        <a:rPr lang="en-US" sz="1400" b="1" dirty="0">
                          <a:solidFill>
                            <a:srgbClr val="14263A"/>
                          </a:solidFill>
                          <a:latin typeface="Public Sans" pitchFamily="34" charset="0"/>
                          <a:ea typeface="Public Sans" pitchFamily="34" charset="-122"/>
                          <a:cs typeface="Public Sans" pitchFamily="34" charset="-120"/>
                        </a:rPr>
                        <a:t>Condición</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B5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5B4AF"/>
                      </a:solidFill>
                      <a:prstDash val="solid"/>
                      <a:round/>
                      <a:headEnd type="none" w="med" len="med"/>
                      <a:tailEnd type="none" w="med" len="med"/>
                    </a:lnB>
                    <a:solidFill>
                      <a:srgbClr val="E3E1DB"/>
                    </a:solidFill>
                  </a:tcPr>
                </a:tc>
                <a:tc>
                  <a:txBody>
                    <a:bodyPr/>
                    <a:lstStyle/>
                    <a:p>
                      <a:pPr algn="r" indent="0" marL="0">
                        <a:lnSpc>
                          <a:spcPts val="1960"/>
                        </a:lnSpc>
                        <a:buNone/>
                      </a:pPr>
                      <a:r>
                        <a:rPr lang="en-US" sz="1400" b="1" dirty="0">
                          <a:solidFill>
                            <a:srgbClr val="14263A"/>
                          </a:solidFill>
                          <a:latin typeface="Public Sans" pitchFamily="34" charset="0"/>
                          <a:ea typeface="Public Sans" pitchFamily="34" charset="-122"/>
                          <a:cs typeface="Public Sans" pitchFamily="34" charset="-120"/>
                        </a:rPr>
                        <a:t>Con</a:t>
                      </a:r>
                      <a:endParaRPr lang="en-US" sz="1400" dirty="0">
                        <a:latin typeface="Public Sans" charset="0"/>
                        <a:ea typeface="Public Sans" charset="0"/>
                        <a:cs typeface="Public Sans" charset="0"/>
                      </a:endParaRPr>
                    </a:p>
                  </a:txBody>
                  <a:tcPr marL="62230" marR="62230" marT="62230" marB="62230" anchor="t">
                    <a:lnL w="12700" cap="flat" cmpd="sng" algn="ctr">
                      <a:solidFill>
                        <a:srgbClr val="B5B4AF"/>
                      </a:solidFill>
                      <a:prstDash val="solid"/>
                      <a:round/>
                      <a:headEnd type="none" w="med" len="med"/>
                      <a:tailEnd type="none" w="med" len="med"/>
                    </a:lnL>
                    <a:lnR w="12700" cap="flat" cmpd="sng" algn="ctr">
                      <a:solidFill>
                        <a:srgbClr val="B5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5B4AF"/>
                      </a:solidFill>
                      <a:prstDash val="solid"/>
                      <a:round/>
                      <a:headEnd type="none" w="med" len="med"/>
                      <a:tailEnd type="none" w="med" len="med"/>
                    </a:lnB>
                    <a:solidFill>
                      <a:srgbClr val="E3E1DB"/>
                    </a:solidFill>
                  </a:tcPr>
                </a:tc>
                <a:tc>
                  <a:txBody>
                    <a:bodyPr/>
                    <a:lstStyle/>
                    <a:p>
                      <a:pPr algn="r" indent="0" marL="0">
                        <a:lnSpc>
                          <a:spcPts val="1960"/>
                        </a:lnSpc>
                        <a:buNone/>
                      </a:pPr>
                      <a:r>
                        <a:rPr lang="en-US" sz="1400" b="1" dirty="0">
                          <a:solidFill>
                            <a:srgbClr val="14263A"/>
                          </a:solidFill>
                          <a:latin typeface="Public Sans" pitchFamily="34" charset="0"/>
                          <a:ea typeface="Public Sans" pitchFamily="34" charset="-122"/>
                          <a:cs typeface="Public Sans" pitchFamily="34" charset="-120"/>
                        </a:rPr>
                        <a:t>Sin</a:t>
                      </a:r>
                      <a:endParaRPr lang="en-US" sz="1400" dirty="0">
                        <a:latin typeface="Public Sans" charset="0"/>
                        <a:ea typeface="Public Sans" charset="0"/>
                        <a:cs typeface="Public Sans" charset="0"/>
                      </a:endParaRPr>
                    </a:p>
                  </a:txBody>
                  <a:tcPr marL="62230" marR="62230" marT="62230" marB="62230" anchor="t">
                    <a:lnL w="12700" cap="flat" cmpd="sng" algn="ctr">
                      <a:solidFill>
                        <a:srgbClr val="B5B4AF"/>
                      </a:solidFill>
                      <a:prstDash val="solid"/>
                      <a:round/>
                      <a:headEnd type="none" w="med" len="med"/>
                      <a:tailEnd type="none" w="med" len="med"/>
                    </a:lnL>
                    <a:lnR w="12700" cap="flat" cmpd="sng" algn="ctr">
                      <a:solidFill>
                        <a:srgbClr val="B5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5B4AF"/>
                      </a:solidFill>
                      <a:prstDash val="solid"/>
                      <a:round/>
                      <a:headEnd type="none" w="med" len="med"/>
                      <a:tailEnd type="none" w="med" len="med"/>
                    </a:lnB>
                    <a:solidFill>
                      <a:srgbClr val="E3E1DB"/>
                    </a:solidFill>
                  </a:tcPr>
                </a:tc>
                <a:tc>
                  <a:txBody>
                    <a:bodyPr/>
                    <a:lstStyle/>
                    <a:p>
                      <a:pPr algn="r" indent="0" marL="0">
                        <a:lnSpc>
                          <a:spcPts val="1960"/>
                        </a:lnSpc>
                        <a:buNone/>
                      </a:pPr>
                      <a:r>
                        <a:rPr lang="en-US" sz="1400" b="1" dirty="0">
                          <a:solidFill>
                            <a:srgbClr val="14263A"/>
                          </a:solidFill>
                          <a:latin typeface="Public Sans" pitchFamily="34" charset="0"/>
                          <a:ea typeface="Public Sans" pitchFamily="34" charset="-122"/>
                          <a:cs typeface="Public Sans" pitchFamily="34" charset="-120"/>
                        </a:rPr>
                        <a:t>Diferencia</a:t>
                      </a:r>
                      <a:endParaRPr lang="en-US" sz="1400" dirty="0">
                        <a:latin typeface="Public Sans" charset="0"/>
                        <a:ea typeface="Public Sans" charset="0"/>
                        <a:cs typeface="Public Sans" charset="0"/>
                      </a:endParaRPr>
                    </a:p>
                  </a:txBody>
                  <a:tcPr marL="62230" marR="62230" marT="62230" marB="62230" anchor="t">
                    <a:lnL w="12700" cap="flat" cmpd="sng" algn="ctr">
                      <a:solidFill>
                        <a:srgbClr val="B5B4AF"/>
                      </a:solidFill>
                      <a:prstDash val="solid"/>
                      <a:round/>
                      <a:headEnd type="none" w="med" len="med"/>
                      <a:tailEnd type="none" w="med" len="med"/>
                    </a:lnL>
                    <a:lnR w="12700" cap="flat" cmpd="sng" algn="ctr">
                      <a:solidFill>
                        <a:srgbClr val="B5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5B4AF"/>
                      </a:solidFill>
                      <a:prstDash val="solid"/>
                      <a:round/>
                      <a:headEnd type="none" w="med" len="med"/>
                      <a:tailEnd type="none" w="med" len="med"/>
                    </a:lnB>
                    <a:solidFill>
                      <a:srgbClr val="E3E1DB"/>
                    </a:solidFill>
                  </a:tcPr>
                </a:tc>
              </a:tr>
              <a:tr h="383540">
                <a:tc>
                  <a:txBody>
                    <a:bodyPr/>
                    <a:lstStyle/>
                    <a:p>
                      <a:pPr indent="0" marL="0">
                        <a:lnSpc>
                          <a:spcPts val="1960"/>
                        </a:lnSpc>
                        <a:buNone/>
                      </a:pPr>
                      <a:r>
                        <a:rPr lang="en-US" sz="1400" dirty="0">
                          <a:solidFill>
                            <a:srgbClr val="14263A"/>
                          </a:solidFill>
                          <a:latin typeface="Public Sans" pitchFamily="34" charset="0"/>
                          <a:ea typeface="Public Sans" pitchFamily="34" charset="-122"/>
                          <a:cs typeface="Public Sans" pitchFamily="34" charset="-120"/>
                        </a:rPr>
                        <a:t>Nieve</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5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algn="r" indent="0" marL="0">
                        <a:lnSpc>
                          <a:spcPts val="1960"/>
                        </a:lnSpc>
                        <a:buNone/>
                      </a:pPr>
                      <a:r>
                        <a:rPr lang="en-US" sz="1400" dirty="0">
                          <a:solidFill>
                            <a:srgbClr val="14263A"/>
                          </a:solidFill>
                          <a:latin typeface="Public Sans" pitchFamily="34" charset="0"/>
                          <a:ea typeface="Public Sans" pitchFamily="34" charset="-122"/>
                          <a:cs typeface="Public Sans" pitchFamily="34" charset="-120"/>
                        </a:rPr>
                        <a:t>26,4</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5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algn="r" indent="0" marL="0">
                        <a:lnSpc>
                          <a:spcPts val="1960"/>
                        </a:lnSpc>
                        <a:buNone/>
                      </a:pPr>
                      <a:r>
                        <a:rPr lang="en-US" sz="1400" dirty="0">
                          <a:solidFill>
                            <a:srgbClr val="14263A"/>
                          </a:solidFill>
                          <a:latin typeface="Public Sans" pitchFamily="34" charset="0"/>
                          <a:ea typeface="Public Sans" pitchFamily="34" charset="-122"/>
                          <a:cs typeface="Public Sans" pitchFamily="34" charset="-120"/>
                        </a:rPr>
                        <a:t>19,7</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5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algn="r" indent="0" marL="0">
                        <a:lnSpc>
                          <a:spcPts val="1960"/>
                        </a:lnSpc>
                        <a:buNone/>
                      </a:pPr>
                      <a:r>
                        <a:rPr lang="en-US" sz="1400" dirty="0">
                          <a:solidFill>
                            <a:srgbClr val="14263A"/>
                          </a:solidFill>
                          <a:latin typeface="Public Sans" pitchFamily="34" charset="0"/>
                          <a:ea typeface="Public Sans" pitchFamily="34" charset="-122"/>
                          <a:cs typeface="Public Sans" pitchFamily="34" charset="-120"/>
                        </a:rPr>
                        <a:t>+6,7 min</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5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632460">
                <a:tc>
                  <a:txBody>
                    <a:bodyPr/>
                    <a:lstStyle/>
                    <a:p>
                      <a:pPr indent="0" marL="0">
                        <a:lnSpc>
                          <a:spcPts val="1960"/>
                        </a:lnSpc>
                        <a:buNone/>
                      </a:pPr>
                      <a:r>
                        <a:rPr lang="en-US" sz="1400" dirty="0">
                          <a:solidFill>
                            <a:srgbClr val="14263A"/>
                          </a:solidFill>
                          <a:latin typeface="Public Sans" pitchFamily="34" charset="0"/>
                          <a:ea typeface="Public Sans" pitchFamily="34" charset="-122"/>
                          <a:cs typeface="Public Sans" pitchFamily="34" charset="-120"/>
                        </a:rPr>
                        <a:t>Lluvia fuerte (más de 5 mm)</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algn="r" indent="0" marL="0">
                        <a:lnSpc>
                          <a:spcPts val="1960"/>
                        </a:lnSpc>
                        <a:buNone/>
                      </a:pPr>
                      <a:r>
                        <a:rPr lang="en-US" sz="1400" dirty="0">
                          <a:solidFill>
                            <a:srgbClr val="14263A"/>
                          </a:solidFill>
                          <a:latin typeface="Public Sans" pitchFamily="34" charset="0"/>
                          <a:ea typeface="Public Sans" pitchFamily="34" charset="-122"/>
                          <a:cs typeface="Public Sans" pitchFamily="34" charset="-120"/>
                        </a:rPr>
                        <a:t>22,7</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algn="r" indent="0" marL="0">
                        <a:lnSpc>
                          <a:spcPts val="1960"/>
                        </a:lnSpc>
                        <a:buNone/>
                      </a:pPr>
                      <a:r>
                        <a:rPr lang="en-US" sz="1400" dirty="0">
                          <a:solidFill>
                            <a:srgbClr val="14263A"/>
                          </a:solidFill>
                          <a:latin typeface="Public Sans" pitchFamily="34" charset="0"/>
                          <a:ea typeface="Public Sans" pitchFamily="34" charset="-122"/>
                          <a:cs typeface="Public Sans" pitchFamily="34" charset="-120"/>
                        </a:rPr>
                        <a:t>18,9</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algn="r" indent="0" marL="0">
                        <a:lnSpc>
                          <a:spcPts val="1960"/>
                        </a:lnSpc>
                        <a:buNone/>
                      </a:pPr>
                      <a:r>
                        <a:rPr lang="en-US" sz="1400" dirty="0">
                          <a:solidFill>
                            <a:srgbClr val="14263A"/>
                          </a:solidFill>
                          <a:latin typeface="Public Sans" pitchFamily="34" charset="0"/>
                          <a:ea typeface="Public Sans" pitchFamily="34" charset="-122"/>
                          <a:cs typeface="Public Sans" pitchFamily="34" charset="-120"/>
                        </a:rPr>
                        <a:t>+3,8 min</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632460">
                <a:tc>
                  <a:txBody>
                    <a:bodyPr/>
                    <a:lstStyle/>
                    <a:p>
                      <a:pPr indent="0" marL="0">
                        <a:lnSpc>
                          <a:spcPts val="1960"/>
                        </a:lnSpc>
                        <a:buNone/>
                      </a:pPr>
                      <a:r>
                        <a:rPr lang="en-US" sz="1400" dirty="0">
                          <a:solidFill>
                            <a:srgbClr val="14263A"/>
                          </a:solidFill>
                          <a:latin typeface="Public Sans" pitchFamily="34" charset="0"/>
                          <a:ea typeface="Public Sans" pitchFamily="34" charset="-122"/>
                          <a:cs typeface="Public Sans" pitchFamily="34" charset="-120"/>
                        </a:rPr>
                        <a:t>Viento de 40 km/h o más</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algn="r" indent="0" marL="0">
                        <a:lnSpc>
                          <a:spcPts val="1960"/>
                        </a:lnSpc>
                        <a:buNone/>
                      </a:pPr>
                      <a:r>
                        <a:rPr lang="en-US" sz="1400" dirty="0">
                          <a:solidFill>
                            <a:srgbClr val="14263A"/>
                          </a:solidFill>
                          <a:latin typeface="Public Sans" pitchFamily="34" charset="0"/>
                          <a:ea typeface="Public Sans" pitchFamily="34" charset="-122"/>
                          <a:cs typeface="Public Sans" pitchFamily="34" charset="-120"/>
                        </a:rPr>
                        <a:t>22,3</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algn="r" indent="0" marL="0">
                        <a:lnSpc>
                          <a:spcPts val="1960"/>
                        </a:lnSpc>
                        <a:buNone/>
                      </a:pPr>
                      <a:r>
                        <a:rPr lang="en-US" sz="1400" dirty="0">
                          <a:solidFill>
                            <a:srgbClr val="14263A"/>
                          </a:solidFill>
                          <a:latin typeface="Public Sans" pitchFamily="34" charset="0"/>
                          <a:ea typeface="Public Sans" pitchFamily="34" charset="-122"/>
                          <a:cs typeface="Public Sans" pitchFamily="34" charset="-120"/>
                        </a:rPr>
                        <a:t>20,0</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algn="r" indent="0" marL="0">
                        <a:lnSpc>
                          <a:spcPts val="1960"/>
                        </a:lnSpc>
                        <a:buNone/>
                      </a:pPr>
                      <a:r>
                        <a:rPr lang="en-US" sz="1400" dirty="0">
                          <a:solidFill>
                            <a:srgbClr val="14263A"/>
                          </a:solidFill>
                          <a:latin typeface="Public Sans" pitchFamily="34" charset="0"/>
                          <a:ea typeface="Public Sans" pitchFamily="34" charset="-122"/>
                          <a:cs typeface="Public Sans" pitchFamily="34" charset="-120"/>
                        </a:rPr>
                        <a:t>+2,3 min</a:t>
                      </a:r>
                      <a:endParaRPr lang="en-US" sz="1400" dirty="0">
                        <a:latin typeface="Public Sans" charset="0"/>
                        <a:ea typeface="Public Sans" charset="0"/>
                        <a:cs typeface="Public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bl>
          </a:graphicData>
        </a:graphic>
      </p:graphicFrame>
      <p:sp>
        <p:nvSpPr>
          <p:cNvPr id="12" name="Text 9"/>
          <p:cNvSpPr/>
          <p:nvPr/>
        </p:nvSpPr>
        <p:spPr>
          <a:xfrm>
            <a:off x="5579189" y="5379721"/>
            <a:ext cx="5974011"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F6B76"/>
                </a:solidFill>
                <a:latin typeface="Public Sans" pitchFamily="34" charset="0"/>
                <a:ea typeface="Public Sans" pitchFamily="34" charset="-122"/>
                <a:cs typeface="Public Sans" pitchFamily="34" charset="-120"/>
              </a:rPr>
              <a:t>20 aeropuertos con clima diario. El clima alarga el rodaje; no demuestra que sea la única causa.</a:t>
            </a:r>
            <a:endParaRPr lang="en-US" sz="1300" dirty="0"/>
          </a:p>
        </p:txBody>
      </p:sp>
      <p:sp>
        <p:nvSpPr>
          <p:cNvPr id="13" name="Text 10"/>
          <p:cNvSpPr/>
          <p:nvPr/>
        </p:nvSpPr>
        <p:spPr>
          <a:xfrm>
            <a:off x="812800" y="6238242"/>
            <a:ext cx="85026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6"/>
                </a:solidFill>
                <a:latin typeface="Public Sans" pitchFamily="34" charset="0"/>
                <a:ea typeface="Public Sans" pitchFamily="34" charset="-122"/>
                <a:cs typeface="Public Sans" pitchFamily="34" charset="-120"/>
              </a:rPr>
              <a:t>Fuente: BTS On-Time Performance; Open-Meteo; cálculo propio</a:t>
            </a:r>
            <a:endParaRPr lang="en-US" sz="1200" dirty="0"/>
          </a:p>
        </p:txBody>
      </p:sp>
      <p:sp>
        <p:nvSpPr>
          <p:cNvPr id="14" name="Text 11"/>
          <p:cNvSpPr/>
          <p:nvPr/>
        </p:nvSpPr>
        <p:spPr>
          <a:xfrm>
            <a:off x="10566400" y="6238242"/>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B76"/>
                </a:solidFill>
                <a:latin typeface="Public Sans" pitchFamily="34" charset="0"/>
                <a:ea typeface="Public Sans" pitchFamily="34" charset="-122"/>
                <a:cs typeface="Public Sans" pitchFamily="34" charset="-120"/>
              </a:rPr>
              <a:t>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263A"/>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F2A15B"/>
                </a:solidFill>
                <a:latin typeface="Public Sans" pitchFamily="34" charset="0"/>
                <a:ea typeface="Public Sans" pitchFamily="34" charset="-122"/>
                <a:cs typeface="Public Sans" pitchFamily="34" charset="-120"/>
              </a:rPr>
              <a:t>IMPACTO</a:t>
            </a:r>
            <a:endParaRPr lang="en-US" sz="1300" dirty="0"/>
          </a:p>
        </p:txBody>
      </p:sp>
      <p:sp>
        <p:nvSpPr>
          <p:cNvPr id="3" name="Text 1"/>
          <p:cNvSpPr/>
          <p:nvPr>
            <p:ph type="title"/>
          </p:nvPr>
        </p:nvSpPr>
        <p:spPr>
          <a:xfrm>
            <a:off x="812800" y="1196342"/>
            <a:ext cx="10883392" cy="43434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F5F3EC"/>
                </a:solidFill>
                <a:latin typeface="Libre Baskerville" pitchFamily="18" charset="0"/>
                <a:ea typeface="Libre Baskerville" pitchFamily="18" charset="-122"/>
                <a:cs typeface="Libre Baskerville" pitchFamily="18" charset="-120"/>
              </a:rPr>
              <a:t>¿Cuánto CO2 representa el rodaje?</a:t>
            </a:r>
            <a:endParaRPr lang="en-US" sz="2800" dirty="0"/>
          </a:p>
        </p:txBody>
      </p:sp>
      <p:sp>
        <p:nvSpPr>
          <p:cNvPr id="4" name="Text 2"/>
          <p:cNvSpPr/>
          <p:nvPr/>
        </p:nvSpPr>
        <p:spPr>
          <a:xfrm>
            <a:off x="812800" y="2372996"/>
            <a:ext cx="10883392" cy="933450"/>
          </a:xfrm>
          <a:prstGeom prst="rect">
            <a:avLst/>
          </a:prstGeom>
          <a:noFill/>
          <a:ln/>
        </p:spPr>
        <p:txBody>
          <a:bodyPr wrap="square" lIns="0" tIns="0" rIns="0" bIns="0" rtlCol="0" anchor="t">
            <a:normAutofit/>
          </a:bodyPr>
          <a:lstStyle/>
          <a:p>
            <a:pPr algn="l" indent="0" marL="0">
              <a:lnSpc>
                <a:spcPts val="7150"/>
              </a:lnSpc>
              <a:buNone/>
            </a:pPr>
            <a:r>
              <a:rPr lang="en-US" sz="6500" b="1" dirty="0">
                <a:solidFill>
                  <a:srgbClr val="F5F3EC"/>
                </a:solidFill>
                <a:latin typeface="Libre Baskerville" pitchFamily="18" charset="0"/>
                <a:ea typeface="Libre Baskerville" pitchFamily="18" charset="-122"/>
                <a:cs typeface="Libre Baskerville" pitchFamily="18" charset="-120"/>
              </a:rPr>
              <a:t>10,3 millones</a:t>
            </a:r>
            <a:endParaRPr lang="en-US" sz="6500" dirty="0"/>
          </a:p>
        </p:txBody>
      </p:sp>
      <p:sp>
        <p:nvSpPr>
          <p:cNvPr id="5" name="Text 3"/>
          <p:cNvSpPr/>
          <p:nvPr/>
        </p:nvSpPr>
        <p:spPr>
          <a:xfrm>
            <a:off x="812800" y="3357246"/>
            <a:ext cx="10883392" cy="66548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C9D3DC"/>
                </a:solidFill>
                <a:latin typeface="Public Sans" pitchFamily="34" charset="0"/>
                <a:ea typeface="Public Sans" pitchFamily="34" charset="-122"/>
                <a:cs typeface="Public Sans" pitchFamily="34" charset="-120"/>
              </a:rPr>
              <a:t>de toneladas de CO2 estimadas en tres años (9,06 millones de horas de rodaje), escenario bajo de 6 kg de combustible por minuto.</a:t>
            </a:r>
            <a:endParaRPr lang="en-US" sz="1800" dirty="0"/>
          </a:p>
        </p:txBody>
      </p:sp>
      <p:sp>
        <p:nvSpPr>
          <p:cNvPr id="6" name="Shape 4"/>
          <p:cNvSpPr/>
          <p:nvPr/>
        </p:nvSpPr>
        <p:spPr>
          <a:xfrm>
            <a:off x="812800" y="4771392"/>
            <a:ext cx="3386614" cy="0"/>
          </a:xfrm>
          <a:prstGeom prst="line">
            <a:avLst/>
          </a:prstGeom>
          <a:noFill/>
          <a:ln w="12700">
            <a:solidFill>
              <a:srgbClr val="F2A15B"/>
            </a:solidFill>
            <a:prstDash val="solid"/>
          </a:ln>
        </p:spPr>
      </p:sp>
      <p:sp>
        <p:nvSpPr>
          <p:cNvPr id="7" name="Text 5"/>
          <p:cNvSpPr/>
          <p:nvPr/>
        </p:nvSpPr>
        <p:spPr>
          <a:xfrm>
            <a:off x="812800" y="4902200"/>
            <a:ext cx="3488212"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F5F3EC"/>
                </a:solidFill>
                <a:latin typeface="Public Sans" pitchFamily="34" charset="0"/>
                <a:ea typeface="Public Sans" pitchFamily="34" charset="-122"/>
                <a:cs typeface="Public Sans" pitchFamily="34" charset="-120"/>
              </a:rPr>
              <a:t>1,03 M t evitadas</a:t>
            </a:r>
            <a:endParaRPr lang="en-US" sz="2200" dirty="0"/>
          </a:p>
        </p:txBody>
      </p:sp>
      <p:sp>
        <p:nvSpPr>
          <p:cNvPr id="8" name="Text 6"/>
          <p:cNvSpPr/>
          <p:nvPr/>
        </p:nvSpPr>
        <p:spPr>
          <a:xfrm>
            <a:off x="812800" y="5344164"/>
            <a:ext cx="348821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D3DC"/>
                </a:solidFill>
                <a:latin typeface="Public Sans" pitchFamily="34" charset="0"/>
                <a:ea typeface="Public Sans" pitchFamily="34" charset="-122"/>
                <a:cs typeface="Public Sans" pitchFamily="34" charset="-120"/>
              </a:rPr>
              <a:t>si el rodaje baja 10 %</a:t>
            </a:r>
            <a:endParaRPr lang="en-US" sz="1400" dirty="0"/>
          </a:p>
        </p:txBody>
      </p:sp>
      <p:sp>
        <p:nvSpPr>
          <p:cNvPr id="9" name="Shape 7"/>
          <p:cNvSpPr/>
          <p:nvPr/>
        </p:nvSpPr>
        <p:spPr>
          <a:xfrm>
            <a:off x="4402614" y="4771392"/>
            <a:ext cx="3386693" cy="0"/>
          </a:xfrm>
          <a:prstGeom prst="line">
            <a:avLst/>
          </a:prstGeom>
          <a:noFill/>
          <a:ln w="12700">
            <a:solidFill>
              <a:srgbClr val="F2A15B"/>
            </a:solidFill>
            <a:prstDash val="solid"/>
          </a:ln>
        </p:spPr>
      </p:sp>
      <p:sp>
        <p:nvSpPr>
          <p:cNvPr id="10" name="Text 8"/>
          <p:cNvSpPr/>
          <p:nvPr/>
        </p:nvSpPr>
        <p:spPr>
          <a:xfrm>
            <a:off x="4402614" y="4902200"/>
            <a:ext cx="3488294"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F5F3EC"/>
                </a:solidFill>
                <a:latin typeface="Public Sans" pitchFamily="34" charset="0"/>
                <a:ea typeface="Public Sans" pitchFamily="34" charset="-122"/>
                <a:cs typeface="Public Sans" pitchFamily="34" charset="-120"/>
              </a:rPr>
              <a:t>3,27 → 3,56 M t</a:t>
            </a:r>
            <a:endParaRPr lang="en-US" sz="2200" dirty="0"/>
          </a:p>
        </p:txBody>
      </p:sp>
      <p:sp>
        <p:nvSpPr>
          <p:cNvPr id="11" name="Text 9"/>
          <p:cNvSpPr/>
          <p:nvPr/>
        </p:nvSpPr>
        <p:spPr>
          <a:xfrm>
            <a:off x="4402614" y="5344164"/>
            <a:ext cx="3488294"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D3DC"/>
                </a:solidFill>
                <a:latin typeface="Public Sans" pitchFamily="34" charset="0"/>
                <a:ea typeface="Public Sans" pitchFamily="34" charset="-122"/>
                <a:cs typeface="Public Sans" pitchFamily="34" charset="-120"/>
              </a:rPr>
              <a:t>por año, de 2023 a 2025</a:t>
            </a:r>
            <a:endParaRPr lang="en-US" sz="1400" dirty="0"/>
          </a:p>
        </p:txBody>
      </p:sp>
      <p:sp>
        <p:nvSpPr>
          <p:cNvPr id="12" name="Shape 10"/>
          <p:cNvSpPr/>
          <p:nvPr/>
        </p:nvSpPr>
        <p:spPr>
          <a:xfrm>
            <a:off x="7992507" y="4771392"/>
            <a:ext cx="3386693" cy="0"/>
          </a:xfrm>
          <a:prstGeom prst="line">
            <a:avLst/>
          </a:prstGeom>
          <a:noFill/>
          <a:ln w="12700">
            <a:solidFill>
              <a:srgbClr val="F2A15B"/>
            </a:solidFill>
            <a:prstDash val="solid"/>
          </a:ln>
        </p:spPr>
      </p:sp>
      <p:sp>
        <p:nvSpPr>
          <p:cNvPr id="13" name="Text 11"/>
          <p:cNvSpPr/>
          <p:nvPr/>
        </p:nvSpPr>
        <p:spPr>
          <a:xfrm>
            <a:off x="7992507" y="4902200"/>
            <a:ext cx="3488294"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F5F3EC"/>
                </a:solidFill>
                <a:latin typeface="Public Sans" pitchFamily="34" charset="0"/>
                <a:ea typeface="Public Sans" pitchFamily="34" charset="-122"/>
                <a:cs typeface="Public Sans" pitchFamily="34" charset="-120"/>
              </a:rPr>
              <a:t>20,6 M t</a:t>
            </a:r>
            <a:endParaRPr lang="en-US" sz="2200" dirty="0"/>
          </a:p>
        </p:txBody>
      </p:sp>
      <p:sp>
        <p:nvSpPr>
          <p:cNvPr id="14" name="Text 12"/>
          <p:cNvSpPr/>
          <p:nvPr/>
        </p:nvSpPr>
        <p:spPr>
          <a:xfrm>
            <a:off x="7992507" y="5344164"/>
            <a:ext cx="3488294"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D3DC"/>
                </a:solidFill>
                <a:latin typeface="Public Sans" pitchFamily="34" charset="0"/>
                <a:ea typeface="Public Sans" pitchFamily="34" charset="-122"/>
                <a:cs typeface="Public Sans" pitchFamily="34" charset="-120"/>
              </a:rPr>
              <a:t>en el escenario alto de 12 kg/min, por validar</a:t>
            </a:r>
            <a:endParaRPr lang="en-US" sz="1400" dirty="0"/>
          </a:p>
        </p:txBody>
      </p:sp>
      <p:sp>
        <p:nvSpPr>
          <p:cNvPr id="15" name="Text 13"/>
          <p:cNvSpPr/>
          <p:nvPr/>
        </p:nvSpPr>
        <p:spPr>
          <a:xfrm>
            <a:off x="812800" y="6238242"/>
            <a:ext cx="91567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FB0C0"/>
                </a:solidFill>
                <a:latin typeface="Public Sans" pitchFamily="34" charset="0"/>
                <a:ea typeface="Public Sans" pitchFamily="34" charset="-122"/>
                <a:cs typeface="Public Sans" pitchFamily="34" charset="-120"/>
              </a:rPr>
              <a:t>Factor de emisión: 3,16 kg de CO2 por kg de combustible (OACI). Consumo de referencia de un A320.</a:t>
            </a:r>
            <a:endParaRPr lang="en-US" sz="1200" dirty="0"/>
          </a:p>
        </p:txBody>
      </p:sp>
      <p:sp>
        <p:nvSpPr>
          <p:cNvPr id="16" name="Text 14"/>
          <p:cNvSpPr/>
          <p:nvPr/>
        </p:nvSpPr>
        <p:spPr>
          <a:xfrm>
            <a:off x="10566400" y="6238242"/>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FB0C0"/>
                </a:solidFill>
                <a:latin typeface="Public Sans" pitchFamily="34" charset="0"/>
                <a:ea typeface="Public Sans" pitchFamily="34" charset="-122"/>
                <a:cs typeface="Public Sans"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40"/>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B85A12"/>
                </a:solidFill>
                <a:latin typeface="Public Sans" pitchFamily="34" charset="0"/>
                <a:ea typeface="Public Sans" pitchFamily="34" charset="-122"/>
                <a:cs typeface="Public Sans" pitchFamily="34" charset="-120"/>
              </a:rPr>
              <a:t>CONCLUSIONES</a:t>
            </a:r>
            <a:endParaRPr lang="en-US" sz="1300" dirty="0"/>
          </a:p>
        </p:txBody>
      </p:sp>
      <p:sp>
        <p:nvSpPr>
          <p:cNvPr id="3" name="Text 1"/>
          <p:cNvSpPr/>
          <p:nvPr>
            <p:ph type="title"/>
          </p:nvPr>
        </p:nvSpPr>
        <p:spPr>
          <a:xfrm>
            <a:off x="812800" y="1196342"/>
            <a:ext cx="10883392" cy="43434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4263A"/>
                </a:solidFill>
                <a:latin typeface="Libre Baskerville" pitchFamily="18" charset="0"/>
                <a:ea typeface="Libre Baskerville" pitchFamily="18" charset="-122"/>
                <a:cs typeface="Libre Baskerville" pitchFamily="18" charset="-120"/>
              </a:rPr>
              <a:t>Dónde y cuándo actuar</a:t>
            </a:r>
            <a:endParaRPr lang="en-US" sz="2800" dirty="0"/>
          </a:p>
        </p:txBody>
      </p:sp>
      <p:sp>
        <p:nvSpPr>
          <p:cNvPr id="4" name="Shape 2"/>
          <p:cNvSpPr/>
          <p:nvPr/>
        </p:nvSpPr>
        <p:spPr>
          <a:xfrm>
            <a:off x="812800" y="2132967"/>
            <a:ext cx="10566400" cy="0"/>
          </a:xfrm>
          <a:prstGeom prst="line">
            <a:avLst/>
          </a:prstGeom>
          <a:noFill/>
          <a:ln w="6350">
            <a:solidFill>
              <a:srgbClr val="DDD8C8"/>
            </a:solidFill>
            <a:prstDash val="solid"/>
          </a:ln>
        </p:spPr>
      </p:sp>
      <p:sp>
        <p:nvSpPr>
          <p:cNvPr id="5" name="Text 3"/>
          <p:cNvSpPr/>
          <p:nvPr/>
        </p:nvSpPr>
        <p:spPr>
          <a:xfrm>
            <a:off x="812800" y="2261871"/>
            <a:ext cx="457200" cy="452120"/>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B85A12"/>
                </a:solidFill>
                <a:latin typeface="Libre Baskerville" pitchFamily="18" charset="0"/>
                <a:ea typeface="Libre Baskerville" pitchFamily="18" charset="-122"/>
                <a:cs typeface="Libre Baskerville" pitchFamily="18" charset="-120"/>
              </a:rPr>
              <a:t>1</a:t>
            </a:r>
            <a:endParaRPr lang="en-US" sz="2400" dirty="0"/>
          </a:p>
        </p:txBody>
      </p:sp>
      <p:sp>
        <p:nvSpPr>
          <p:cNvPr id="6" name="Text 4"/>
          <p:cNvSpPr/>
          <p:nvPr/>
        </p:nvSpPr>
        <p:spPr>
          <a:xfrm>
            <a:off x="1422400" y="2261871"/>
            <a:ext cx="9810750"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63A"/>
                </a:solidFill>
                <a:latin typeface="Public Sans" pitchFamily="34" charset="0"/>
                <a:ea typeface="Public Sans" pitchFamily="34" charset="-122"/>
                <a:cs typeface="Public Sans" pitchFamily="34" charset="-120"/>
              </a:rPr>
              <a:t>ORD, DFW, DEN y ATL concentran el volumen; JFK, EWR, LGA y ORD, los minutos.</a:t>
            </a:r>
            <a:endParaRPr lang="en-US" sz="1600" dirty="0"/>
          </a:p>
        </p:txBody>
      </p:sp>
      <p:sp>
        <p:nvSpPr>
          <p:cNvPr id="7" name="Shape 5"/>
          <p:cNvSpPr/>
          <p:nvPr/>
        </p:nvSpPr>
        <p:spPr>
          <a:xfrm>
            <a:off x="812800" y="2818767"/>
            <a:ext cx="10566400" cy="0"/>
          </a:xfrm>
          <a:prstGeom prst="line">
            <a:avLst/>
          </a:prstGeom>
          <a:noFill/>
          <a:ln w="6350">
            <a:solidFill>
              <a:srgbClr val="DDD8C8"/>
            </a:solidFill>
            <a:prstDash val="solid"/>
          </a:ln>
        </p:spPr>
      </p:sp>
      <p:sp>
        <p:nvSpPr>
          <p:cNvPr id="8" name="Text 6"/>
          <p:cNvSpPr/>
          <p:nvPr/>
        </p:nvSpPr>
        <p:spPr>
          <a:xfrm>
            <a:off x="812800" y="2947671"/>
            <a:ext cx="457200" cy="452120"/>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B85A12"/>
                </a:solidFill>
                <a:latin typeface="Libre Baskerville" pitchFamily="18" charset="0"/>
                <a:ea typeface="Libre Baskerville" pitchFamily="18" charset="-122"/>
                <a:cs typeface="Libre Baskerville" pitchFamily="18" charset="-120"/>
              </a:rPr>
              <a:t>2</a:t>
            </a:r>
            <a:endParaRPr lang="en-US" sz="2400" dirty="0"/>
          </a:p>
        </p:txBody>
      </p:sp>
      <p:sp>
        <p:nvSpPr>
          <p:cNvPr id="9" name="Text 7"/>
          <p:cNvSpPr/>
          <p:nvPr/>
        </p:nvSpPr>
        <p:spPr>
          <a:xfrm>
            <a:off x="1422400" y="2947671"/>
            <a:ext cx="9810750"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63A"/>
                </a:solidFill>
                <a:latin typeface="Public Sans" pitchFamily="34" charset="0"/>
                <a:ea typeface="Public Sans" pitchFamily="34" charset="-122"/>
                <a:cs typeface="Public Sans" pitchFamily="34" charset="-120"/>
              </a:rPr>
              <a:t>La franja de 6 a 8 h concentra más CO2 de salida; el pico está a las 8.</a:t>
            </a:r>
            <a:endParaRPr lang="en-US" sz="1600" dirty="0"/>
          </a:p>
        </p:txBody>
      </p:sp>
      <p:sp>
        <p:nvSpPr>
          <p:cNvPr id="10" name="Shape 8"/>
          <p:cNvSpPr/>
          <p:nvPr/>
        </p:nvSpPr>
        <p:spPr>
          <a:xfrm>
            <a:off x="812800" y="3504567"/>
            <a:ext cx="10566400" cy="0"/>
          </a:xfrm>
          <a:prstGeom prst="line">
            <a:avLst/>
          </a:prstGeom>
          <a:noFill/>
          <a:ln w="6350">
            <a:solidFill>
              <a:srgbClr val="DDD8C8"/>
            </a:solidFill>
            <a:prstDash val="solid"/>
          </a:ln>
        </p:spPr>
      </p:sp>
      <p:sp>
        <p:nvSpPr>
          <p:cNvPr id="11" name="Text 9"/>
          <p:cNvSpPr/>
          <p:nvPr/>
        </p:nvSpPr>
        <p:spPr>
          <a:xfrm>
            <a:off x="812800" y="3633471"/>
            <a:ext cx="457200" cy="452120"/>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B85A12"/>
                </a:solidFill>
                <a:latin typeface="Libre Baskerville" pitchFamily="18" charset="0"/>
                <a:ea typeface="Libre Baskerville" pitchFamily="18" charset="-122"/>
                <a:cs typeface="Libre Baskerville" pitchFamily="18" charset="-120"/>
              </a:rPr>
              <a:t>3</a:t>
            </a:r>
            <a:endParaRPr lang="en-US" sz="2400" dirty="0"/>
          </a:p>
        </p:txBody>
      </p:sp>
      <p:sp>
        <p:nvSpPr>
          <p:cNvPr id="12" name="Text 10"/>
          <p:cNvSpPr/>
          <p:nvPr/>
        </p:nvSpPr>
        <p:spPr>
          <a:xfrm>
            <a:off x="1422400" y="3633471"/>
            <a:ext cx="9956800"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63A"/>
                </a:solidFill>
                <a:latin typeface="Public Sans" pitchFamily="34" charset="0"/>
                <a:ea typeface="Public Sans" pitchFamily="34" charset="-122"/>
                <a:cs typeface="Public Sans" pitchFamily="34" charset="-120"/>
              </a:rPr>
              <a:t>El rodaje crece más rápido que los vuelos (+9 % frente a +2 %), y la nieve y la lluvia fuerte lo alargan.</a:t>
            </a:r>
            <a:endParaRPr lang="en-US" sz="1600" dirty="0"/>
          </a:p>
        </p:txBody>
      </p:sp>
      <p:sp>
        <p:nvSpPr>
          <p:cNvPr id="13" name="Shape 11"/>
          <p:cNvSpPr/>
          <p:nvPr/>
        </p:nvSpPr>
        <p:spPr>
          <a:xfrm>
            <a:off x="812800" y="4190367"/>
            <a:ext cx="10566400" cy="0"/>
          </a:xfrm>
          <a:prstGeom prst="line">
            <a:avLst/>
          </a:prstGeom>
          <a:noFill/>
          <a:ln w="6350">
            <a:solidFill>
              <a:srgbClr val="DDD8C8"/>
            </a:solidFill>
            <a:prstDash val="solid"/>
          </a:ln>
        </p:spPr>
      </p:sp>
      <p:sp>
        <p:nvSpPr>
          <p:cNvPr id="14" name="Text 12"/>
          <p:cNvSpPr/>
          <p:nvPr/>
        </p:nvSpPr>
        <p:spPr>
          <a:xfrm>
            <a:off x="812800" y="4319271"/>
            <a:ext cx="457200" cy="452120"/>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B85A12"/>
                </a:solidFill>
                <a:latin typeface="Libre Baskerville" pitchFamily="18" charset="0"/>
                <a:ea typeface="Libre Baskerville" pitchFamily="18" charset="-122"/>
                <a:cs typeface="Libre Baskerville" pitchFamily="18" charset="-120"/>
              </a:rPr>
              <a:t>4</a:t>
            </a:r>
            <a:endParaRPr lang="en-US" sz="2400" dirty="0"/>
          </a:p>
        </p:txBody>
      </p:sp>
      <p:sp>
        <p:nvSpPr>
          <p:cNvPr id="15" name="Text 13"/>
          <p:cNvSpPr/>
          <p:nvPr/>
        </p:nvSpPr>
        <p:spPr>
          <a:xfrm>
            <a:off x="1422400" y="4319271"/>
            <a:ext cx="9810750"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4263A"/>
                </a:solidFill>
                <a:latin typeface="Public Sans" pitchFamily="34" charset="0"/>
                <a:ea typeface="Public Sans" pitchFamily="34" charset="-122"/>
                <a:cs typeface="Public Sans" pitchFamily="34" charset="-120"/>
              </a:rPr>
              <a:t>Las cifras dependen del consumo supuesto (6 kg/min); el orden de los aeropuertos, no.</a:t>
            </a:r>
            <a:endParaRPr lang="en-US" sz="1600" dirty="0"/>
          </a:p>
        </p:txBody>
      </p:sp>
      <p:sp>
        <p:nvSpPr>
          <p:cNvPr id="16" name="Text 14"/>
          <p:cNvSpPr/>
          <p:nvPr/>
        </p:nvSpPr>
        <p:spPr>
          <a:xfrm>
            <a:off x="812800" y="5270500"/>
            <a:ext cx="10566400" cy="571500"/>
          </a:xfrm>
          <a:prstGeom prst="roundRect">
            <a:avLst>
              <a:gd name="adj" fmla="val 17778"/>
            </a:avLst>
          </a:prstGeom>
          <a:solidFill>
            <a:srgbClr val="14263A"/>
          </a:solidFill>
          <a:ln/>
        </p:spPr>
        <p:txBody>
          <a:bodyPr wrap="square" lIns="173442" tIns="122642" rIns="0" bIns="97242" rtlCol="0" anchor="t">
            <a:normAutofit/>
          </a:bodyPr>
          <a:lstStyle/>
          <a:p>
            <a:pPr algn="l" indent="0" marL="0">
              <a:lnSpc>
                <a:spcPts val="2100"/>
              </a:lnSpc>
              <a:buNone/>
            </a:pPr>
            <a:r>
              <a:rPr lang="en-US" sz="1500" b="1" dirty="0">
                <a:solidFill>
                  <a:srgbClr val="F5F3EC"/>
                </a:solidFill>
                <a:latin typeface="Public Sans" pitchFamily="34" charset="0"/>
                <a:ea typeface="Public Sans" pitchFamily="34" charset="-122"/>
                <a:cs typeface="Public Sans" pitchFamily="34" charset="-120"/>
              </a:rPr>
              <a:t>Siguiente paso:</a:t>
            </a:r>
            <a:r>
              <a:rPr lang="en-US" sz="1500" dirty="0">
                <a:solidFill>
                  <a:srgbClr val="F5F3EC"/>
                </a:solidFill>
                <a:latin typeface="Public Sans" pitchFamily="34" charset="0"/>
                <a:ea typeface="Public Sans" pitchFamily="34" charset="-122"/>
                <a:cs typeface="Public Sans" pitchFamily="34" charset="-120"/>
              </a:rPr>
              <a:t> repetir la metodología con datos de la Aerocivil para El Dorado.</a:t>
            </a:r>
            <a:endParaRPr lang="en-US" sz="1500" dirty="0"/>
          </a:p>
        </p:txBody>
      </p:sp>
      <p:sp>
        <p:nvSpPr>
          <p:cNvPr id="17" name="Text 15"/>
          <p:cNvSpPr/>
          <p:nvPr/>
        </p:nvSpPr>
        <p:spPr>
          <a:xfrm>
            <a:off x="812800" y="6238242"/>
            <a:ext cx="85026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B76"/>
                </a:solidFill>
                <a:latin typeface="Public Sans" pitchFamily="34" charset="0"/>
                <a:ea typeface="Public Sans" pitchFamily="34" charset="-122"/>
                <a:cs typeface="Public Sans" pitchFamily="34" charset="-120"/>
              </a:rPr>
              <a:t>Rodaje en tierra y CO2 · BTS 2023–2025</a:t>
            </a:r>
            <a:endParaRPr lang="en-US" sz="1200" dirty="0"/>
          </a:p>
        </p:txBody>
      </p:sp>
      <p:sp>
        <p:nvSpPr>
          <p:cNvPr id="18" name="Text 16"/>
          <p:cNvSpPr/>
          <p:nvPr/>
        </p:nvSpPr>
        <p:spPr>
          <a:xfrm>
            <a:off x="10566400" y="6238242"/>
            <a:ext cx="812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B76"/>
                </a:solidFill>
                <a:latin typeface="Public Sans" pitchFamily="34" charset="0"/>
                <a:ea typeface="Public Sans" pitchFamily="34" charset="-122"/>
                <a:cs typeface="Public Sans" pitchFamily="34" charset="-120"/>
              </a:rPr>
              <a:t>11</a:t>
            </a:r>
            <a:endParaRPr lang="en-US" sz="1200" dirty="0"/>
          </a:p>
        </p:txBody>
      </p:sp>
    </p:spTree>
  </p:cSld>
  <p:clrMapOvr>
    <a:masterClrMapping/>
  </p:clrMapOvr>
</p:sld>
</file>

<file path=ppt/theme/theme1.xml><?xml version="1.0" encoding="utf-8"?>
<a:theme xmlns:a="http://schemas.openxmlformats.org/drawingml/2006/main" name="Rodaje en tierra y CO2 — Presentación">
  <a:themeElements>
    <a:clrScheme name="Rodaje en tierra y CO2 — Presentación">
      <a:dk1>
        <a:srgbClr val="14263A"/>
      </a:dk1>
      <a:lt1>
        <a:srgbClr val="F5F3EC"/>
      </a:lt1>
      <a:dk2>
        <a:srgbClr val="4C5967"/>
      </a:dk2>
      <a:lt2>
        <a:srgbClr val="DFDFDA"/>
      </a:lt2>
      <a:accent1>
        <a:srgbClr val="2B4A6B"/>
      </a:accent1>
      <a:accent2>
        <a:srgbClr val="B85A12"/>
      </a:accent2>
      <a:accent3>
        <a:srgbClr val="D9701C"/>
      </a:accent3>
      <a:accent4>
        <a:srgbClr val="F2A15B"/>
      </a:accent4>
      <a:accent5>
        <a:srgbClr val="FFF4C2"/>
      </a:accent5>
      <a:accent6>
        <a:srgbClr val="5F6B76"/>
      </a:accent6>
      <a:hlink>
        <a:srgbClr val="0563C1"/>
      </a:hlink>
      <a:folHlink>
        <a:srgbClr val="954F72"/>
      </a:folHlink>
    </a:clrScheme>
    <a:fontScheme name="Rodaje en tierra y CO2 — Presentación">
      <a:majorFont>
        <a:latin typeface="Libre Baskerville"/>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ublic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Rodaje en tierra y CO2 — Presentación</dc:title>
  <dc:subject/>
  <dc:creator/>
  <cp:lastModifiedBy/>
  <cp:revision>1</cp:revision>
  <dcterms:created xsi:type="dcterms:W3CDTF">2026-10-08T20:42:46Z</dcterms:created>
  <dcterms:modified xsi:type="dcterms:W3CDTF">2026-10-08T20:42:46Z</dcterms:modified>
</cp:coreProperties>
</file>