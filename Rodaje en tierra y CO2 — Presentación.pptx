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20 segundos. Saludo y presentación del grupo. Una frase de gancho: antes de despegar y después de aterrizar, los aviones consumen combustible con los motores encendidos. Hoy mostramos dónde, a qué hora y cuánto CO2 es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50 segundos. Rodaje es el tiempo que el avión se mueve en tierra con los motores encendidos: desde el puesto hasta el despegue (TaxiOut) y desde el aterrizaje hasta el puesto (TaxiIn). El usuario es el área de Sostenibilidad: necesita una cifra defendible para su reporte y una lista corta de dónde actuar. No predecimos atrasos: ese fue nuestro primer enfoque y lo cambiamos por este, que conecta mejor con una decisión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45 segundos. El volumen que exige el docente se cumple en la entrada: 9,47 GB de CSV, 36 archivos mensuales. Lo convertimos a Parquet, columnar y particionado por año y mes, que pesa 664 MB y conserva las 20.928.579 filas. Para el total excluimos 292.357 filas (1,4 %), casi todas por datos nulos; solo 54 salidas y 219 llegadas superan los 180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60 segundos. Seguimos CRISP-DM en versión corta: negocio (reducir y reportar CO2), datos (BTS más clima), preparación (Parquet y regla de limpieza), análisis (DuckDB sobre el 100 % de las filas; Dask repite el cálculo), evaluación (23 comparaciones contra cifras ya medidas, todas cuadran) y despliegue (Prefect, AWS y Grafana). A AWS solo suben las tablas de resultados, nunca el conjunto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75 segundos. Prefect: el flujo es idempotente. Si llega un mes nuevo, se agrega a la lista y se vuelve a correr: lo ya procesado se omite y el CO2 se recalcula sobre todo el Parquet. Mostramos también un fallo controlado. Dask: misma agregación con dos configuraciones de workers y memoria. Con este volumen ganó A, con menos procesos y más hilos, porque coordinar procesos pequeños cuesta más. En B un worker llegó cerca de su límite de 1 GB. Una tercera configuración (4 × 2 GB) no se corrió por falta de memoria libre en el equipo. [Insertar aquí captura del dashboard de Dask y del historial de Prefect si se quiere mostrar en vivo.] NOTA PARA EL GRUPO: los tiempos son los del archivo benchmark_dask.csv de la carpeta resultados; el informe de Word cita 5,1 s y 9,6 s de otra corrida. Unifiquen la cifra antes de 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45 segundos. IMPORTANTE ANTES DE PRESENTAR: este recuadro amarillo es un marcador. Reemplácenlo por la captura real del tablero cuando la base en AWS y Grafana estén listos. El script scripts/subir_resultados_aws.py carga las tablas; el tablero tiene un selector de escenario (bajo 6 kg/min, alto 12 kg/min por validar). Mensaje: el usuario de Sostenibilidad no ve SQL, ve cinco paneles que responden una pregunta cada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60 segundos. Barras: CO2 de salida por aeropuerto. ORD, DFW, DEN y ATL lideran por volumen: ORD solo suma unas 392 mil toneladas. Derecha: los más lentos por minutos son JFK (27 min), EWR, LGA y ORD. ORD, LGA y JFK aparecen en las dos listas, así que son prioridad. Mensaje para Sostenibilidad: en unos aeropuertos hay que atacar volumen; en otros,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45 segundos. Las horas 6, 7 y 8 (naranja) son las de más CO2 de salida: unas 465, 504 y 516 mil toneladas. La tarde sube de nuevo hacia las 17 y 18, pero por debajo de la mañana. Anécdota de rigor: al principio nos salía un pico a las 9 y una hora 24 con casi 60.000 vuelos; era un error de redondeo al dividir HHMM entre 100. Lo encontramos, lo corregimos y lo documentamos en el cuaderno. La franja 6 a 8 es donde una salida más fluida ahorra más combustible.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60 segundos. Izquierda: las horas de rodaje crecieron 9 % mientras los vuelos válidos crecieron cerca de 2 %. No es solo que haya más vuelos: cada vuelo pasa más tiempo en tierra. Derecha: cada fenómeno climático por separado alarga el rodaje de salida: la nieve unos 6,7 minutos, la lluvia fuerte unos 3,8 y el viento fuerte unos 2,3. Cuidado con la interpretación: el clima es diario, no de la hora del vuelo, y solo cubre 20 aeropuertos; un día de nieve también desordena la pista. Sirve para decir que un reporte no debería promediar todos los días como iguales.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45 segundos. La cuenta es combustible = minutos de rodaje por kilos por minuto, y CO2 = combustible por 3,16. En el escenario bajo son 10,3 millones de toneladas; si el consumo real fuera el doble, 20,6 millones, pero ese valor aún está por validar contra la base de motores OACI/EASA. Bajar el rodaje un 10 % evitaría cerca de 1,03 millones de toneladas. El ranking de aeropuertos no cambia con el supuesto, porque todos se multiplican por el mismo número. Límite honesto: no sabemos el motor de cada vuelo.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Tiempo: 60 segundos. Cierre con las cuatro ideas y la propuesta de trabajo futuro: aplicar lo mismo a El Dorado con datos de la Aerocivil. Después, abrir a preguntas. Preguntas probables: por qué 6 kg/min (referencia de un A320; el escenario alto está por validar); por qué no subimos los datos originales a AWS (solo se sube la analítica, según el requisito); qué pasó con el modelo de atrasos (cambiamos de pregunta a una más útil para Sostenibilidad).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96340"/>
            <a:ext cx="105664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800" dirty="0">
                <a:solidFill>
                  <a:srgbClr val="14263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10080"/>
            <a:ext cx="10566400" cy="413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96340"/>
            <a:ext cx="105664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800" dirty="0">
                <a:solidFill>
                  <a:srgbClr val="14263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10080"/>
            <a:ext cx="10566400" cy="413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F2A15B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BIG DATA · MAESTRÍA EN ANALÍTICA APLICADA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204720"/>
            <a:ext cx="10883392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60"/>
              </a:lnSpc>
              <a:buNone/>
            </a:pPr>
            <a:r>
              <a:rPr lang="en-US" sz="4600" b="1" i="0" dirty="0">
                <a:solidFill>
                  <a:srgbClr val="F5F3EC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¿Cuánto CO2 se pierde rodando en tierra?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12800" y="3718560"/>
            <a:ext cx="882967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Aeropuertos y horarios que más combustible desperdician en vuelos de Estados Unidos, 2023–2025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5796280"/>
            <a:ext cx="58864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[Nombres de los integrantes]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00850" y="5547360"/>
            <a:ext cx="457835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Universidad de La Sabana</a:t>
            </a:r>
            <a:endParaRPr lang="en-US" sz="1400" dirty="0"/>
          </a:p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PREGUNTA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40"/>
            <a:ext cx="10883392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i="0" dirty="0">
                <a:solidFill>
                  <a:srgbClr val="14263A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¿Qué aeropuertos y qué horarios desperdician más combustible rodando en tierra, y cuánto CO2 representa?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4150995"/>
            <a:ext cx="3380264" cy="1687830"/>
          </a:xfrm>
          <a:prstGeom prst="roundRect">
            <a:avLst>
              <a:gd name="adj" fmla="val 5831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1880" y="4406900"/>
            <a:ext cx="2954507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Usuario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1880" y="4782820"/>
            <a:ext cx="295450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Área de Sostenibilidad de una aerolínea o de un aeropuerto.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5789" y="4150995"/>
            <a:ext cx="3380343" cy="1687830"/>
          </a:xfrm>
          <a:prstGeom prst="roundRect">
            <a:avLst>
              <a:gd name="adj" fmla="val 5831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1694" y="4406900"/>
            <a:ext cx="2954589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Decisión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61694" y="4782820"/>
            <a:ext cx="2954589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Dónde y a qué hora actuar, y qué cifra de CO2 reportar.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95682" y="4150995"/>
            <a:ext cx="3380343" cy="1687830"/>
          </a:xfrm>
          <a:prstGeom prst="roundRect">
            <a:avLst>
              <a:gd name="adj" fmla="val 5831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1587" y="4406900"/>
            <a:ext cx="2954589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Medida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51587" y="4782820"/>
            <a:ext cx="2954589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Minutos de rodaje por vuelo: salida (TaxiOut) y llegada (TaxiIn).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1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Rodaje en tierra y CO2 · BTS 2023–2025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66400" y="6238241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F2A15B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LOS DATOS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41"/>
            <a:ext cx="108833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F5F3EC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BTS On-Time Performance, 36 meses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693036"/>
            <a:ext cx="3318907" cy="0"/>
          </a:xfrm>
          <a:prstGeom prst="line">
            <a:avLst/>
          </a:prstGeom>
          <a:noFill/>
          <a:ln w="12700">
            <a:solidFill>
              <a:srgbClr val="F2A1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849245"/>
            <a:ext cx="3418474" cy="793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50"/>
              </a:lnSpc>
              <a:buNone/>
            </a:pPr>
            <a:r>
              <a:rPr lang="en-US" sz="5500" b="1" dirty="0">
                <a:solidFill>
                  <a:srgbClr val="F5F3EC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9,47 GB</a:t>
            </a:r>
            <a:endParaRPr lang="en-US" sz="5500" dirty="0"/>
          </a:p>
        </p:txBody>
      </p:sp>
      <p:sp>
        <p:nvSpPr>
          <p:cNvPr id="6" name="Text 4"/>
          <p:cNvSpPr/>
          <p:nvPr/>
        </p:nvSpPr>
        <p:spPr>
          <a:xfrm>
            <a:off x="812800" y="3693795"/>
            <a:ext cx="3418474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 CSV al descomprimir 36 ZIP (1,05 GB comprimidos). Cumple el requisito de más de 1,5 GB.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6507" y="2693036"/>
            <a:ext cx="3318986" cy="0"/>
          </a:xfrm>
          <a:prstGeom prst="line">
            <a:avLst/>
          </a:prstGeom>
          <a:noFill/>
          <a:ln w="12700">
            <a:solidFill>
              <a:srgbClr val="F2A1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6507" y="2849245"/>
            <a:ext cx="3418556" cy="793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50"/>
              </a:lnSpc>
              <a:buNone/>
            </a:pPr>
            <a:r>
              <a:rPr lang="en-US" sz="5500" b="1" dirty="0">
                <a:solidFill>
                  <a:srgbClr val="F5F3EC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20,9 M</a:t>
            </a:r>
            <a:endParaRPr lang="en-US" sz="5500" dirty="0"/>
          </a:p>
        </p:txBody>
      </p:sp>
      <p:sp>
        <p:nvSpPr>
          <p:cNvPr id="9" name="Text 7"/>
          <p:cNvSpPr/>
          <p:nvPr/>
        </p:nvSpPr>
        <p:spPr>
          <a:xfrm>
            <a:off x="4436507" y="3693795"/>
            <a:ext cx="3418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 vuelos (20.928.579 filas). Parquet de 664 MB sin perder ninguna fila.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60293" y="2693036"/>
            <a:ext cx="3318907" cy="0"/>
          </a:xfrm>
          <a:prstGeom prst="line">
            <a:avLst/>
          </a:prstGeom>
          <a:noFill/>
          <a:ln w="12700">
            <a:solidFill>
              <a:srgbClr val="F2A1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60293" y="2849245"/>
            <a:ext cx="3418474" cy="793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50"/>
              </a:lnSpc>
              <a:buNone/>
            </a:pPr>
            <a:r>
              <a:rPr lang="en-US" sz="5500" b="1" dirty="0">
                <a:solidFill>
                  <a:srgbClr val="F5F3EC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36</a:t>
            </a:r>
            <a:endParaRPr lang="en-US" sz="5500" dirty="0"/>
          </a:p>
        </p:txBody>
      </p:sp>
      <p:sp>
        <p:nvSpPr>
          <p:cNvPr id="12" name="Text 10"/>
          <p:cNvSpPr/>
          <p:nvPr/>
        </p:nvSpPr>
        <p:spPr>
          <a:xfrm>
            <a:off x="8060293" y="3693795"/>
            <a:ext cx="3418474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meses, de enero de 2023 a diciembre de 2025, más clima diario de 20 aeropuertos (Open-Meteo).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Para el cálculo entran los vuelos con ambos tiempos de rodaje válidos (hasta 180 min): </a:t>
            </a:r>
            <a:r>
              <a:rPr lang="en-US" sz="1500" b="1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20.636.222</a:t>
            </a:r>
            <a:r>
              <a:rPr lang="en-US" sz="1500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, el 98,6 %.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41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Fuente: Bureau of Transportation Statistics; Open-Meteo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66400" y="6238241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MÉTODO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41"/>
            <a:ext cx="108833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14263A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Del dato al tablero, con CRISP-DM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2356565"/>
            <a:ext cx="1659890" cy="1176020"/>
          </a:xfrm>
          <a:prstGeom prst="roundRect">
            <a:avLst>
              <a:gd name="adj" fmla="val 8369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0280" y="2561670"/>
            <a:ext cx="140208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70280" y="2881709"/>
            <a:ext cx="1402080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36 ZIP mensuales</a:t>
            </a:r>
            <a:endParaRPr lang="en-US" sz="1300" dirty="0"/>
          </a:p>
        </p:txBody>
      </p:sp>
      <p:pic>
        <p:nvPicPr>
          <p:cNvPr id="7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80640" y="2842975"/>
            <a:ext cx="355600" cy="20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041015" y="2468007"/>
            <a:ext cx="1659890" cy="953135"/>
          </a:xfrm>
          <a:prstGeom prst="roundRect">
            <a:avLst>
              <a:gd name="adj" fmla="val 10326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195320" y="2673113"/>
            <a:ext cx="140208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Parquet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195320" y="2993152"/>
            <a:ext cx="140208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por año y mes</a:t>
            </a:r>
            <a:endParaRPr lang="en-US" sz="1300" dirty="0"/>
          </a:p>
        </p:txBody>
      </p:sp>
      <p:pic>
        <p:nvPicPr>
          <p:cNvPr id="11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05680" y="2842975"/>
            <a:ext cx="355600" cy="2032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266055" y="2346088"/>
            <a:ext cx="1659890" cy="1196975"/>
          </a:xfrm>
          <a:prstGeom prst="roundRect">
            <a:avLst>
              <a:gd name="adj" fmla="val 8223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20360" y="2551192"/>
            <a:ext cx="1402080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DuckDB y Dask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420360" y="3115072"/>
            <a:ext cx="140208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cálculo de CO2</a:t>
            </a:r>
            <a:endParaRPr lang="en-US" sz="1300" dirty="0"/>
          </a:p>
        </p:txBody>
      </p:sp>
      <p:pic>
        <p:nvPicPr>
          <p:cNvPr id="15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30720" y="2842975"/>
            <a:ext cx="355600" cy="203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7491095" y="2468007"/>
            <a:ext cx="1659890" cy="953135"/>
          </a:xfrm>
          <a:prstGeom prst="roundRect">
            <a:avLst>
              <a:gd name="adj" fmla="val 10326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645400" y="2673113"/>
            <a:ext cx="140208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AWS RDS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645400" y="2993152"/>
            <a:ext cx="140208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solo resultados</a:t>
            </a:r>
            <a:endParaRPr lang="en-US" sz="1300" dirty="0"/>
          </a:p>
        </p:txBody>
      </p:sp>
      <p:pic>
        <p:nvPicPr>
          <p:cNvPr id="19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55760" y="2842975"/>
            <a:ext cx="355600" cy="203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716135" y="2468007"/>
            <a:ext cx="1659890" cy="953135"/>
          </a:xfrm>
          <a:prstGeom prst="roundRect">
            <a:avLst>
              <a:gd name="adj" fmla="val 10326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9870440" y="2673113"/>
            <a:ext cx="140208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Grafana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870440" y="2993152"/>
            <a:ext cx="140208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tablero gerencial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12800" y="4283948"/>
            <a:ext cx="10566400" cy="571500"/>
          </a:xfrm>
          <a:prstGeom prst="roundRect">
            <a:avLst>
              <a:gd name="adj" fmla="val 17778"/>
            </a:avLst>
          </a:prstGeom>
          <a:solidFill>
            <a:srgbClr val="14263A"/>
          </a:solidFill>
          <a:ln/>
        </p:spPr>
        <p:txBody>
          <a:bodyPr wrap="square" lIns="173442" tIns="122642" rIns="0" bIns="97242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Prefect</a:t>
            </a:r>
            <a:r>
              <a:rPr lang="en-US" sz="1500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orquesta todo el recorrido y lo repite cuando entra un mes nuevo.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12800" y="5593082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CRISP-DM: negocio · datos · preparación · análisis · evaluación · despliegue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12800" y="6238239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Rodaje en tierra y CO2 · BTS 2023–2025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10566400" y="6238239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39"/>
            <a:ext cx="10883392" cy="84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14263A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Prefect repite el flujo; Dask se mide en dos configuraciones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3024507"/>
            <a:ext cx="5175250" cy="2814320"/>
          </a:xfrm>
          <a:prstGeom prst="roundRect">
            <a:avLst>
              <a:gd name="adj" fmla="val 3497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1880" y="3280411"/>
            <a:ext cx="4803343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Prefect: flujo recurrente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56462" y="3681732"/>
            <a:ext cx="4711141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Descarga un mes solo si falta el ZIP.</a:t>
            </a:r>
            <a:endParaRPr lang="en-US" sz="1400" dirty="0"/>
          </a:p>
          <a:p>
            <a:pPr algn="l" marL="169418" indent="-16941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Convierte a Parquet solo los meses nuevos.</a:t>
            </a:r>
            <a:endParaRPr lang="en-US" sz="1400" dirty="0"/>
          </a:p>
          <a:p>
            <a:pPr algn="l" marL="169418" indent="-16941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 final recalcula todo el CO2.</a:t>
            </a:r>
            <a:endParaRPr lang="en-US" sz="1400" dirty="0"/>
          </a:p>
          <a:p>
            <a:pPr algn="l" marL="169418" indent="-16941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 un archivo falla, lo registra y sigue.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1880" y="4839971"/>
            <a:ext cx="480334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Corrida del 6 de octubre: omitió los 36 meses y dejó 12.164 filas de aeropuerto-mes.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00775" y="3024507"/>
            <a:ext cx="5175250" cy="2814320"/>
          </a:xfrm>
          <a:prstGeom prst="roundRect">
            <a:avLst>
              <a:gd name="adj" fmla="val 3497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6680" y="3280411"/>
            <a:ext cx="4803343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Dask: dos configuraciones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6840" y="3691892"/>
          <a:ext cx="4653280" cy="1301750"/>
        </p:xfrm>
        <a:graphic>
          <a:graphicData uri="http://schemas.openxmlformats.org/drawingml/2006/table">
            <a:tbl>
              <a:tblPr/>
              <a:tblGrid>
                <a:gridCol w="2140509"/>
                <a:gridCol w="1116787"/>
                <a:gridCol w="1395984"/>
              </a:tblGrid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Configuración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Tiempo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Pico memoria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5"/>
                    </a:solidFill>
                  </a:tcPr>
                </a:tc>
              </a:tr>
              <a:tr h="58801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A: 2 workers × 2 hilos, 2 GB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8,0 s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2.037 MB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B: 4 workers × 1 hilo, 1 GB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9,4 s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2.558 MB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8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456680" y="5120639"/>
            <a:ext cx="480334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Ambas dan 7.042.250,7 t, igual que DuckDB. Menos procesos con más hilos rindió mejor: coordinar pesa más que calcular.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2800" y="6238239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Fuente: benchmark_dask.csv; ejecución propia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566400" y="6238239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ENTREGA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39"/>
            <a:ext cx="108833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14263A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AWS guarda los resultados; Grafana los muestra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3502661"/>
            <a:ext cx="4313296" cy="87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la base de datos suben solo tablas agregadas: cerca de </a:t>
            </a:r>
            <a:r>
              <a:rPr lang="en-US" sz="1600" b="1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17.000 filas</a:t>
            </a:r>
            <a:r>
              <a:rPr lang="en-US" sz="16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, nunca los 9,47 GB.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97382" y="4508500"/>
            <a:ext cx="4221094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CO2 total y por año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Top 10 de aeropuertos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CO2 por hora de salida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Aeropuertos más lentos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Ahorro si baja el rodaje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311616" y="3509011"/>
            <a:ext cx="6061234" cy="2326640"/>
          </a:xfrm>
          <a:prstGeom prst="roundRect">
            <a:avLst>
              <a:gd name="adj" fmla="val 4094"/>
            </a:avLst>
          </a:prstGeom>
          <a:solidFill>
            <a:srgbClr val="FFF4C2"/>
          </a:solidFill>
          <a:ln w="12700">
            <a:solidFill>
              <a:srgbClr val="B85A12"/>
            </a:solidFill>
            <a:prstDash val="dash"/>
          </a:ln>
        </p:spPr>
        <p:txBody>
          <a:bodyPr wrap="square" lIns="199052" tIns="280712" rIns="199052" bIns="280712" rtlCol="0" anchor="ctr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[Insertar captura del tablero de Grafana conectado a AWS RDS]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12800" y="6238239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Rodaje en tierra y CO2 · BTS 2023–2025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66400" y="6238239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HALLAZGO 1 · DÓNDE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39"/>
            <a:ext cx="108833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14263A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Volumen y lentitud son dos palancas distintas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2524761"/>
            <a:ext cx="595864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CO2 de rodaje de salida, miles de toneladas (escenario bajo)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2800" y="2832100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22400" y="2833371"/>
            <a:ext cx="4445000" cy="228600"/>
          </a:xfrm>
          <a:prstGeom prst="rect">
            <a:avLst/>
          </a:prstGeom>
          <a:solidFill>
            <a:srgbClr val="D9701C"/>
          </a:solidFill>
          <a:ln/>
        </p:spPr>
      </p:sp>
      <p:sp>
        <p:nvSpPr>
          <p:cNvPr id="7" name="Text 5"/>
          <p:cNvSpPr/>
          <p:nvPr/>
        </p:nvSpPr>
        <p:spPr>
          <a:xfrm>
            <a:off x="5969000" y="2832100"/>
            <a:ext cx="36537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392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2800" y="3139439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DFW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22400" y="3140711"/>
            <a:ext cx="3797300" cy="2286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0" name="Text 8"/>
          <p:cNvSpPr/>
          <p:nvPr/>
        </p:nvSpPr>
        <p:spPr>
          <a:xfrm>
            <a:off x="5321300" y="3139439"/>
            <a:ext cx="375285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335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3446782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422400" y="3448050"/>
            <a:ext cx="3644900" cy="2286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3" name="Text 11"/>
          <p:cNvSpPr/>
          <p:nvPr/>
        </p:nvSpPr>
        <p:spPr>
          <a:xfrm>
            <a:off x="5168900" y="3446782"/>
            <a:ext cx="32356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321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3754121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ATL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422400" y="3755389"/>
            <a:ext cx="3479800" cy="2286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6" name="Text 14"/>
          <p:cNvSpPr/>
          <p:nvPr/>
        </p:nvSpPr>
        <p:spPr>
          <a:xfrm>
            <a:off x="5003800" y="3754121"/>
            <a:ext cx="36014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307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4061461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422400" y="4062732"/>
            <a:ext cx="2717800" cy="2286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9" name="Text 17"/>
          <p:cNvSpPr/>
          <p:nvPr/>
        </p:nvSpPr>
        <p:spPr>
          <a:xfrm>
            <a:off x="4241800" y="4061461"/>
            <a:ext cx="363855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240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2800" y="4368800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LGA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422400" y="4370071"/>
            <a:ext cx="2336800" cy="228600"/>
          </a:xfrm>
          <a:prstGeom prst="rect">
            <a:avLst/>
          </a:prstGeom>
          <a:solidFill>
            <a:srgbClr val="D9701C"/>
          </a:solidFill>
          <a:ln/>
        </p:spPr>
      </p:sp>
      <p:sp>
        <p:nvSpPr>
          <p:cNvPr id="22" name="Text 20"/>
          <p:cNvSpPr/>
          <p:nvPr/>
        </p:nvSpPr>
        <p:spPr>
          <a:xfrm>
            <a:off x="3860800" y="4368800"/>
            <a:ext cx="36137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206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2800" y="4676139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422400" y="4677411"/>
            <a:ext cx="2254250" cy="2286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5" name="Text 23"/>
          <p:cNvSpPr/>
          <p:nvPr/>
        </p:nvSpPr>
        <p:spPr>
          <a:xfrm>
            <a:off x="3778250" y="4676139"/>
            <a:ext cx="32680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199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12800" y="4983482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LAX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422400" y="4984750"/>
            <a:ext cx="2222500" cy="2286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8" name="Text 26"/>
          <p:cNvSpPr/>
          <p:nvPr/>
        </p:nvSpPr>
        <p:spPr>
          <a:xfrm>
            <a:off x="3746500" y="4983482"/>
            <a:ext cx="32642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196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800" y="5290821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422400" y="5292089"/>
            <a:ext cx="2178050" cy="2286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31" name="Text 29"/>
          <p:cNvSpPr/>
          <p:nvPr/>
        </p:nvSpPr>
        <p:spPr>
          <a:xfrm>
            <a:off x="3702050" y="5290821"/>
            <a:ext cx="32251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192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12800" y="5598161"/>
            <a:ext cx="5588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JFK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422400" y="5599432"/>
            <a:ext cx="2051050" cy="228600"/>
          </a:xfrm>
          <a:prstGeom prst="rect">
            <a:avLst/>
          </a:prstGeom>
          <a:solidFill>
            <a:srgbClr val="D9701C"/>
          </a:solidFill>
          <a:ln/>
        </p:spPr>
      </p:sp>
      <p:sp>
        <p:nvSpPr>
          <p:cNvPr id="34" name="Text 32"/>
          <p:cNvSpPr/>
          <p:nvPr/>
        </p:nvSpPr>
        <p:spPr>
          <a:xfrm>
            <a:off x="3575050" y="5598161"/>
            <a:ext cx="2921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181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007463" y="2527936"/>
            <a:ext cx="4368562" cy="3310890"/>
          </a:xfrm>
          <a:prstGeom prst="roundRect">
            <a:avLst>
              <a:gd name="adj" fmla="val 2973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3368" y="2783839"/>
            <a:ext cx="3972454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Los más lentos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263368" y="3185161"/>
            <a:ext cx="397245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Minutos promedio de salida, aeropuertos con más de 50.000 vuelos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263368" y="3774439"/>
            <a:ext cx="3972454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JFK</a:t>
            </a:r>
            <a:r>
              <a: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27,0 min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EWR</a:t>
            </a:r>
            <a:r>
              <a: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24,6 min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LGA</a:t>
            </a:r>
            <a:r>
              <a: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24,2 min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ORD</a:t>
            </a:r>
            <a:r>
              <a: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24,2 min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263368" y="5120639"/>
            <a:ext cx="397245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Naranja en las barras: ORD, LGA y JFK están en ambas listas.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12800" y="6238239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Fuente: BTS On-Time Performance 2023–2025; cálculo propio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566400" y="6238239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HALLAZGO 2 · CUÁNDO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70939"/>
            <a:ext cx="108833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14263A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La mañana de 6 a 8 concentra el CO2 de salida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1925321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Miles de toneladas de CO2 por hora programada de salida (0–23). La hora 8 llega a unas 516.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2800" y="4994911"/>
            <a:ext cx="10566400" cy="0"/>
          </a:xfrm>
          <a:prstGeom prst="line">
            <a:avLst/>
          </a:prstGeom>
          <a:noFill/>
          <a:ln w="12700">
            <a:solidFill>
              <a:srgbClr val="1426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800" y="4933950"/>
            <a:ext cx="330200" cy="571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7" name="Shape 5"/>
          <p:cNvSpPr/>
          <p:nvPr/>
        </p:nvSpPr>
        <p:spPr>
          <a:xfrm>
            <a:off x="1219200" y="4972050"/>
            <a:ext cx="330200" cy="190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8" name="Shape 6"/>
          <p:cNvSpPr/>
          <p:nvPr/>
        </p:nvSpPr>
        <p:spPr>
          <a:xfrm>
            <a:off x="1625600" y="4984750"/>
            <a:ext cx="330200" cy="63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9" name="Shape 7"/>
          <p:cNvSpPr/>
          <p:nvPr/>
        </p:nvSpPr>
        <p:spPr>
          <a:xfrm>
            <a:off x="2032000" y="4984750"/>
            <a:ext cx="330200" cy="63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0" name="Shape 8"/>
          <p:cNvSpPr/>
          <p:nvPr/>
        </p:nvSpPr>
        <p:spPr>
          <a:xfrm>
            <a:off x="2438400" y="4984750"/>
            <a:ext cx="330200" cy="63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1" name="Shape 9"/>
          <p:cNvSpPr/>
          <p:nvPr/>
        </p:nvSpPr>
        <p:spPr>
          <a:xfrm>
            <a:off x="2844800" y="4064000"/>
            <a:ext cx="330200" cy="9271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51200" y="2476500"/>
            <a:ext cx="330200" cy="2514600"/>
          </a:xfrm>
          <a:prstGeom prst="rect">
            <a:avLst/>
          </a:prstGeom>
          <a:solidFill>
            <a:srgbClr val="D9701C"/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0" y="2260600"/>
            <a:ext cx="330200" cy="2730500"/>
          </a:xfrm>
          <a:prstGeom prst="rect">
            <a:avLst/>
          </a:prstGeom>
          <a:solidFill>
            <a:srgbClr val="D9701C"/>
          </a:solidFill>
          <a:ln/>
        </p:spPr>
      </p:sp>
      <p:sp>
        <p:nvSpPr>
          <p:cNvPr id="14" name="Shape 12"/>
          <p:cNvSpPr/>
          <p:nvPr/>
        </p:nvSpPr>
        <p:spPr>
          <a:xfrm>
            <a:off x="4064000" y="2197100"/>
            <a:ext cx="330200" cy="2794000"/>
          </a:xfrm>
          <a:prstGeom prst="rect">
            <a:avLst/>
          </a:prstGeom>
          <a:solidFill>
            <a:srgbClr val="D9701C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0400" y="2711450"/>
            <a:ext cx="330200" cy="22796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6800" y="2578100"/>
            <a:ext cx="330200" cy="24130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83200" y="2647950"/>
            <a:ext cx="330200" cy="23431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9600" y="2851150"/>
            <a:ext cx="330200" cy="21399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19" name="Shape 17"/>
          <p:cNvSpPr/>
          <p:nvPr/>
        </p:nvSpPr>
        <p:spPr>
          <a:xfrm>
            <a:off x="6096000" y="2794000"/>
            <a:ext cx="330200" cy="21971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0" name="Shape 18"/>
          <p:cNvSpPr/>
          <p:nvPr/>
        </p:nvSpPr>
        <p:spPr>
          <a:xfrm>
            <a:off x="6502400" y="2863850"/>
            <a:ext cx="330200" cy="21272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8800" y="2832100"/>
            <a:ext cx="330200" cy="21590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0" y="2806700"/>
            <a:ext cx="330200" cy="218440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1600" y="2559050"/>
            <a:ext cx="330200" cy="24320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4" name="Shape 22"/>
          <p:cNvSpPr/>
          <p:nvPr/>
        </p:nvSpPr>
        <p:spPr>
          <a:xfrm>
            <a:off x="8128000" y="2584450"/>
            <a:ext cx="330200" cy="24066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5" name="Shape 23"/>
          <p:cNvSpPr/>
          <p:nvPr/>
        </p:nvSpPr>
        <p:spPr>
          <a:xfrm>
            <a:off x="8534400" y="2851150"/>
            <a:ext cx="330200" cy="21399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6" name="Shape 24"/>
          <p:cNvSpPr/>
          <p:nvPr/>
        </p:nvSpPr>
        <p:spPr>
          <a:xfrm>
            <a:off x="8940800" y="3232150"/>
            <a:ext cx="330200" cy="17589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7" name="Shape 25"/>
          <p:cNvSpPr/>
          <p:nvPr/>
        </p:nvSpPr>
        <p:spPr>
          <a:xfrm>
            <a:off x="9347200" y="3702050"/>
            <a:ext cx="330200" cy="12890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8" name="Shape 26"/>
          <p:cNvSpPr/>
          <p:nvPr/>
        </p:nvSpPr>
        <p:spPr>
          <a:xfrm>
            <a:off x="9753600" y="4108450"/>
            <a:ext cx="330200" cy="8826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29" name="Shape 27"/>
          <p:cNvSpPr/>
          <p:nvPr/>
        </p:nvSpPr>
        <p:spPr>
          <a:xfrm>
            <a:off x="10160000" y="4679950"/>
            <a:ext cx="330200" cy="311150"/>
          </a:xfrm>
          <a:prstGeom prst="rect">
            <a:avLst/>
          </a:prstGeom>
          <a:solidFill>
            <a:srgbClr val="2B4A6B"/>
          </a:solidFill>
          <a:ln/>
        </p:spPr>
      </p:sp>
      <p:sp>
        <p:nvSpPr>
          <p:cNvPr id="30" name="Text 28"/>
          <p:cNvSpPr/>
          <p:nvPr/>
        </p:nvSpPr>
        <p:spPr>
          <a:xfrm>
            <a:off x="7874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938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6002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0066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4130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8194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2258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6322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0386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4450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8514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2578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11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642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12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0706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770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8834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2898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16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6962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1026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5090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19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9154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20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3218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21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7282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0134600" y="5052064"/>
            <a:ext cx="381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23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12800" y="5610864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Corregimos un error de redondeo: el supuesto “hora 24” no existe; la hora se calcula con división entera.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12800" y="6238242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Fuente: BTS On-Time Performance 2023–2025; escenario bajo, 6 kg/min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0566400" y="6238242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HALLAZGO 3 · CUÁNTO CAMBIA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42"/>
            <a:ext cx="10883392" cy="84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14263A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Cada vuelo pasa más tiempo en tierra, sobre todo con mal clima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2820039"/>
            <a:ext cx="4455239" cy="1517650"/>
          </a:xfrm>
          <a:prstGeom prst="roundRect">
            <a:avLst>
              <a:gd name="adj" fmla="val 6485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1880" y="3025142"/>
            <a:ext cx="40617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B85A12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+9,0 %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71880" y="3634742"/>
            <a:ext cx="406173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horas de rodaje de 2023 a 2025 (2,87 M a 3,13 M horas)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5975" y="4496439"/>
            <a:ext cx="4455239" cy="1268730"/>
          </a:xfrm>
          <a:prstGeom prst="roundRect">
            <a:avLst>
              <a:gd name="adj" fmla="val 7758"/>
            </a:avLst>
          </a:prstGeom>
          <a:solidFill>
            <a:srgbClr val="FCFBF7"/>
          </a:solidFill>
          <a:ln w="6350">
            <a:solidFill>
              <a:srgbClr val="DDD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1880" y="4701542"/>
            <a:ext cx="40617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2B4A6B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+2 %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071880" y="5311142"/>
            <a:ext cx="4061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D4A5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vuelos válidos en el mismo periodo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579189" y="2816864"/>
            <a:ext cx="597401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Minutos promedio de rodaje de salida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9349" y="3220724"/>
          <a:ext cx="5789851" cy="2032000"/>
        </p:xfrm>
        <a:graphic>
          <a:graphicData uri="http://schemas.openxmlformats.org/drawingml/2006/table">
            <a:tbl>
              <a:tblPr/>
              <a:tblGrid>
                <a:gridCol w="2200143"/>
                <a:gridCol w="984275"/>
                <a:gridCol w="984275"/>
                <a:gridCol w="1621158"/>
              </a:tblGrid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Condición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Con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Sin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Diferencia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B"/>
                    </a:solidFill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Nieve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26,4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19,7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+6,7 min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Lluvia fuerte (más de 5 mm)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22,7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18,9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+3,8 min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Viento de 40 km/h o más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22,3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20,0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63A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+2,3 min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579189" y="5379721"/>
            <a:ext cx="597401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20 aeropuertos con clima diario. El clima alarga el rodaje; no demuestra que sea la única causa.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Fuente: BTS On-Time Performance; Open-Meteo; cálculo propio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566400" y="6238242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F2A15B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IMPACTO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42"/>
            <a:ext cx="108833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F5F3EC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¿Cuánto CO2 representa el rodaje?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800" y="2372996"/>
            <a:ext cx="10883392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150"/>
              </a:lnSpc>
              <a:buNone/>
            </a:pPr>
            <a:r>
              <a:rPr lang="en-US" sz="6500" b="1" dirty="0">
                <a:solidFill>
                  <a:srgbClr val="F5F3EC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10,3 millones</a:t>
            </a:r>
            <a:endParaRPr lang="en-US" sz="6500" dirty="0"/>
          </a:p>
        </p:txBody>
      </p:sp>
      <p:sp>
        <p:nvSpPr>
          <p:cNvPr id="5" name="Text 3"/>
          <p:cNvSpPr/>
          <p:nvPr/>
        </p:nvSpPr>
        <p:spPr>
          <a:xfrm>
            <a:off x="812800" y="3357246"/>
            <a:ext cx="10883392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 toneladas de CO2 en tres años (9,06 millones de horas de rodaje), escenario bajo de 6 kg de combustible por minuto.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12800" y="4771392"/>
            <a:ext cx="3386614" cy="0"/>
          </a:xfrm>
          <a:prstGeom prst="line">
            <a:avLst/>
          </a:prstGeom>
          <a:noFill/>
          <a:ln w="12700">
            <a:solidFill>
              <a:srgbClr val="F2A1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800" y="4902200"/>
            <a:ext cx="348821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1,03 M t evitadas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12800" y="5344164"/>
            <a:ext cx="3488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 el rodaje baja 10 %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2614" y="4771392"/>
            <a:ext cx="3386693" cy="0"/>
          </a:xfrm>
          <a:prstGeom prst="line">
            <a:avLst/>
          </a:prstGeom>
          <a:noFill/>
          <a:ln w="12700">
            <a:solidFill>
              <a:srgbClr val="F2A1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2614" y="4902200"/>
            <a:ext cx="3488294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3,27 → 3,56 M 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02614" y="5344164"/>
            <a:ext cx="34882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por año, de 2023 a 2025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2507" y="4771392"/>
            <a:ext cx="3386693" cy="0"/>
          </a:xfrm>
          <a:prstGeom prst="line">
            <a:avLst/>
          </a:prstGeom>
          <a:noFill/>
          <a:ln w="12700">
            <a:solidFill>
              <a:srgbClr val="F2A1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92507" y="4902200"/>
            <a:ext cx="3488294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20,6 M 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992507" y="5344164"/>
            <a:ext cx="3488294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D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 el escenario alto de 12 kg/min, por validar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42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Factor de emisión: 3,16 kg de CO2 por kg de combustible (OACI). Consumo de referencia de un A320.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66400" y="6238242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85A1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96342"/>
            <a:ext cx="108833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b="1" i="0" dirty="0">
                <a:solidFill>
                  <a:srgbClr val="14263A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Dónde y cuándo actuar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32967"/>
            <a:ext cx="10566400" cy="0"/>
          </a:xfrm>
          <a:prstGeom prst="line">
            <a:avLst/>
          </a:prstGeom>
          <a:noFill/>
          <a:ln w="6350">
            <a:solidFill>
              <a:srgbClr val="DDD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261871"/>
            <a:ext cx="4572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85A12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22400" y="2261871"/>
            <a:ext cx="981075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ORD, DFW, DEN y ATL concentran el volumen; JFK, EWR, LGA y ORD, los minutos.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00" y="2818767"/>
            <a:ext cx="10566400" cy="0"/>
          </a:xfrm>
          <a:prstGeom prst="line">
            <a:avLst/>
          </a:prstGeom>
          <a:noFill/>
          <a:ln w="6350">
            <a:solidFill>
              <a:srgbClr val="DDD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947671"/>
            <a:ext cx="4572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85A12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22400" y="2947671"/>
            <a:ext cx="981075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franja de 6 a 8 h concentra más CO2 de salida; el pico está a las 8.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800" y="3504567"/>
            <a:ext cx="10566400" cy="0"/>
          </a:xfrm>
          <a:prstGeom prst="line">
            <a:avLst/>
          </a:prstGeom>
          <a:noFill/>
          <a:ln w="6350">
            <a:solidFill>
              <a:srgbClr val="DDD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2800" y="3633471"/>
            <a:ext cx="4572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85A12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22400" y="3633471"/>
            <a:ext cx="99568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El rodaje crece más rápido que los vuelos (+9 % frente a +2 %), y la nieve y la lluvia fuerte lo alargan.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2800" y="4190367"/>
            <a:ext cx="10566400" cy="0"/>
          </a:xfrm>
          <a:prstGeom prst="line">
            <a:avLst/>
          </a:prstGeom>
          <a:noFill/>
          <a:ln w="6350">
            <a:solidFill>
              <a:srgbClr val="DDD8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2800" y="4319271"/>
            <a:ext cx="4572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85A12"/>
                </a:solidFill>
                <a:latin typeface="Libre Baskerville" pitchFamily="18" charset="0"/>
                <a:ea typeface="Libre Baskerville" pitchFamily="18" charset="-122"/>
                <a:cs typeface="Libre Baskerville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22400" y="4319271"/>
            <a:ext cx="981075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63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Las cifras dependen del consumo supuesto (6 kg/min); el orden de los aeropuertos, no.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" y="5270500"/>
            <a:ext cx="10566400" cy="571500"/>
          </a:xfrm>
          <a:prstGeom prst="roundRect">
            <a:avLst>
              <a:gd name="adj" fmla="val 17778"/>
            </a:avLst>
          </a:prstGeom>
          <a:solidFill>
            <a:srgbClr val="14263A"/>
          </a:solidFill>
          <a:ln/>
        </p:spPr>
        <p:txBody>
          <a:bodyPr wrap="square" lIns="173442" tIns="122642" rIns="0" bIns="97242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Siguiente paso:</a:t>
            </a:r>
            <a:r>
              <a:rPr lang="en-US" sz="1500" dirty="0">
                <a:solidFill>
                  <a:srgbClr val="F5F3E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repetir la metodología con datos de la Aerocivil para El Dorado.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42"/>
            <a:ext cx="85026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Rodaje en tierra y CO2 · BTS 2023–2025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66400" y="6238242"/>
            <a:ext cx="812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daje en tierra y CO2 — Presentación">
  <a:themeElements>
    <a:clrScheme name="Rodaje en tierra y CO2 — Presentación">
      <a:dk1>
        <a:srgbClr val="14263A"/>
      </a:dk1>
      <a:lt1>
        <a:srgbClr val="F5F3EC"/>
      </a:lt1>
      <a:dk2>
        <a:srgbClr val="4C5967"/>
      </a:dk2>
      <a:lt2>
        <a:srgbClr val="DFDFDA"/>
      </a:lt2>
      <a:accent1>
        <a:srgbClr val="2B4A6B"/>
      </a:accent1>
      <a:accent2>
        <a:srgbClr val="B85A12"/>
      </a:accent2>
      <a:accent3>
        <a:srgbClr val="D9701C"/>
      </a:accent3>
      <a:accent4>
        <a:srgbClr val="F2A15B"/>
      </a:accent4>
      <a:accent5>
        <a:srgbClr val="FFF4C2"/>
      </a:accent5>
      <a:accent6>
        <a:srgbClr val="5F6B76"/>
      </a:accent6>
      <a:hlink>
        <a:srgbClr val="0563C1"/>
      </a:hlink>
      <a:folHlink>
        <a:srgbClr val="954F72"/>
      </a:folHlink>
    </a:clrScheme>
    <a:fontScheme name="Rodaje en tierra y CO2 — Presentación">
      <a:majorFont>
        <a:latin typeface="Libre Baskervil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ublic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Rodaje en tierra y CO2 — Presentación</dc:title>
  <dc:subject/>
  <dc:creator/>
  <cp:lastModifiedBy/>
  <cp:revision>1</cp:revision>
  <dcterms:created xsi:type="dcterms:W3CDTF">2026-10-08T01:28:56Z</dcterms:created>
  <dcterms:modified xsi:type="dcterms:W3CDTF">2026-10-08T01:28:56Z</dcterms:modified>
</cp:coreProperties>
</file>